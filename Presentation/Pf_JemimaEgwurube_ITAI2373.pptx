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4"/>
  </p:sldMasterIdLst>
  <p:notesMasterIdLst>
    <p:notesMasterId r:id="rId10"/>
  </p:notesMasterIdLst>
  <p:handoutMasterIdLst>
    <p:handoutMasterId r:id="rId11"/>
  </p:handoutMasterIdLst>
  <p:sldIdLst>
    <p:sldId id="256" r:id="rId5"/>
    <p:sldId id="261" r:id="rId6"/>
    <p:sldId id="258" r:id="rId7"/>
    <p:sldId id="259" r:id="rId8"/>
    <p:sldId id="260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8" autoAdjust="0"/>
  </p:normalViewPr>
  <p:slideViewPr>
    <p:cSldViewPr snapToGrid="0">
      <p:cViewPr varScale="1">
        <p:scale>
          <a:sx n="59" d="100"/>
          <a:sy n="59" d="100"/>
        </p:scale>
        <p:origin x="87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8" d="100"/>
          <a:sy n="68" d="100"/>
        </p:scale>
        <p:origin x="3288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F81CEA5-62FD-4C83-BDE3-91DFB9827D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1CBFD-6AD0-48C4-B91B-58830F6F4C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869721-F543-4A6C-BF9D-65D7CC540427}" type="datetimeFigureOut">
              <a:rPr lang="en-US" smtClean="0"/>
              <a:t>5/3/2026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E55D22-46A3-4B8C-AD40-252FE7896C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70DCEF-9071-4B17-801B-37B4465C8E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90168E-626C-4E60-93C0-A00D2560946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93477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32326A-4C88-4AFB-AA5B-5919D81DFF5B}" type="datetimeFigureOut">
              <a:rPr lang="en-US" smtClean="0"/>
              <a:t>5/3/2026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3AB32-59DF-41F1-9618-EDFBF504962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18056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B3AB32-59DF-41F1-9618-EDFBF504962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0047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B3AB32-59DF-41F1-9618-EDFBF504962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19275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B3AB32-59DF-41F1-9618-EDFBF504962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51155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B3AB32-59DF-41F1-9618-EDFBF504962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6714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5/3/2026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5/3/2026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5/3/2026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5/3/2026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5/3/2026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Jemimahh/ITAI2373-NewsBot-Final" TargetMode="Externa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igital Connections"/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Group 16"/>
          <p:cNvGrpSpPr>
            <a:grpSpLocks noGrp="1" noUngrp="1" noRot="1" noChangeAspect="1" noMove="1" noResize="1"/>
          </p:cNvGrpSpPr>
          <p:nvPr/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Bar1"/>
            <p:cNvSpPr/>
            <p:nvPr/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Bar2"/>
            <p:cNvSpPr/>
            <p:nvPr/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Bar3"/>
            <p:cNvSpPr/>
            <p:nvPr/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2" name="Overlay"/>
          <p:cNvSpPr>
            <a:spLocks noTextEdit="1"/>
          </p:cNvSpPr>
          <p:nvPr/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rgbClr val="0D1B3E">
              <a:alpha val="97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"/>
          <p:cNvSpPr txBox="1"/>
          <p:nvPr/>
        </p:nvSpPr>
        <p:spPr>
          <a:xfrm>
            <a:off x="581191" y="4520000"/>
            <a:ext cx="10993549" cy="80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rmAutofit fontScale="92500" lnSpcReduction="20000"/>
          </a:bodyPr>
          <a:lstStyle/>
          <a:p>
            <a:pPr algn="l">
              <a:buNone/>
            </a:pPr>
            <a:r>
              <a:rPr lang="en-US" sz="5400" b="1" dirty="0">
                <a:solidFill>
                  <a:srgbClr val="FFFFFF"/>
                </a:solidFill>
              </a:rPr>
              <a:t>JEMIMA EGWURUBE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791843" y="5409315"/>
            <a:ext cx="10993546" cy="60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t">
            <a:normAutofit fontScale="77500" lnSpcReduction="20000"/>
          </a:bodyPr>
          <a:lstStyle/>
          <a:p>
            <a:pPr algn="l">
              <a:buNone/>
            </a:pPr>
            <a:r>
              <a:rPr lang="en-US" sz="1600" b="1" dirty="0">
                <a:solidFill>
                  <a:srgbClr val="7CEBFF"/>
                </a:solidFill>
              </a:rPr>
              <a:t>AI Engineer ·  Robotics Builder  ·</a:t>
            </a:r>
          </a:p>
          <a:p>
            <a:pPr algn="l">
              <a:buNone/>
            </a:pPr>
            <a:r>
              <a:rPr lang="en-US" sz="1300" dirty="0">
                <a:solidFill>
                  <a:srgbClr val="DDDDDD"/>
                </a:solidFill>
              </a:rPr>
              <a:t>Houston Community College  ·  A.A.S. Artificial Intelligence (in progress)</a:t>
            </a:r>
          </a:p>
          <a:p>
            <a:r>
              <a:rPr lang="en-US" sz="1300" dirty="0">
                <a:solidFill>
                  <a:srgbClr val="7CEBFF"/>
                </a:solidFill>
              </a:rPr>
              <a:t>https://github.com/</a:t>
            </a:r>
            <a:r>
              <a:rPr lang="en-US" sz="1300" dirty="0" err="1">
                <a:solidFill>
                  <a:srgbClr val="7CEBFF"/>
                </a:solidFill>
              </a:rPr>
              <a:t>Jemimahh</a:t>
            </a:r>
            <a:r>
              <a:rPr lang="en-US" sz="1300" dirty="0">
                <a:solidFill>
                  <a:srgbClr val="7CEBFF"/>
                </a:solidFill>
              </a:rPr>
              <a:t>/Jemima-Egwurube-AI-Portfolio/·  linkedin.com/in/jemima-egwurube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BottomBar"/>
          <p:cNvSpPr>
            <a:spLocks noTextEdi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"/>
          <p:cNvSpPr txBox="1"/>
          <p:nvPr/>
        </p:nvSpPr>
        <p:spPr>
          <a:xfrm>
            <a:off x="581192" y="5264487"/>
            <a:ext cx="11029616" cy="71887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rmAutofit/>
          </a:bodyPr>
          <a:lstStyle/>
          <a:p>
            <a:pPr algn="l">
              <a:buNone/>
            </a:pPr>
            <a:r>
              <a:rPr lang="en-US" sz="2400" b="1" dirty="0">
                <a:solidFill>
                  <a:srgbClr val="FFFFFF"/>
                </a:solidFill>
              </a:rPr>
              <a:t>LEARNING JOURNEY</a:t>
            </a:r>
          </a:p>
        </p:txBody>
      </p:sp>
      <p:sp>
        <p:nvSpPr>
          <p:cNvPr id="30" name="Intro"/>
          <p:cNvSpPr txBox="1"/>
          <p:nvPr/>
        </p:nvSpPr>
        <p:spPr>
          <a:xfrm>
            <a:off x="644000" y="820000"/>
            <a:ext cx="10906000" cy="38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t">
            <a:normAutofit lnSpcReduction="10000"/>
          </a:bodyPr>
          <a:lstStyle/>
          <a:p>
            <a:pPr algn="l">
              <a:buNone/>
            </a:pPr>
            <a:r>
              <a:rPr lang="en-US" sz="1400" i="1" dirty="0">
                <a:solidFill>
                  <a:srgbClr val="333333"/>
                </a:solidFill>
              </a:rPr>
              <a:t>From cloud foundations to autonomous AI systems — a progression through applied coursework and real builds.</a:t>
            </a:r>
          </a:p>
        </p:txBody>
      </p:sp>
      <p:sp>
        <p:nvSpPr>
          <p:cNvPr id="31" name="TLine"/>
          <p:cNvSpPr>
            <a:spLocks noTextEdit="1"/>
          </p:cNvSpPr>
          <p:nvPr/>
        </p:nvSpPr>
        <p:spPr>
          <a:xfrm>
            <a:off x="1200000" y="2380000"/>
            <a:ext cx="9800000" cy="100000"/>
          </a:xfrm>
          <a:prstGeom prst="rect">
            <a:avLst/>
          </a:prstGeom>
          <a:solidFill>
            <a:srgbClr val="1A3A7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0" name="Node0"/>
          <p:cNvSpPr>
            <a:spLocks noTextEdit="1"/>
          </p:cNvSpPr>
          <p:nvPr/>
        </p:nvSpPr>
        <p:spPr>
          <a:xfrm>
            <a:off x="1000000" y="2180000"/>
            <a:ext cx="400000" cy="400000"/>
          </a:xfrm>
          <a:prstGeom prst="ellipse">
            <a:avLst/>
          </a:prstGeom>
          <a:solidFill>
            <a:srgbClr val="7CEB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1" name="Badge0"/>
          <p:cNvSpPr>
            <a:spLocks noTextEdit="1"/>
          </p:cNvSpPr>
          <p:nvPr/>
        </p:nvSpPr>
        <p:spPr>
          <a:xfrm>
            <a:off x="750000" y="1380000"/>
            <a:ext cx="900000" cy="330000"/>
          </a:xfrm>
          <a:prstGeom prst="rect">
            <a:avLst/>
          </a:prstGeom>
          <a:solidFill>
            <a:srgbClr val="0D214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" name="YearTxt0"/>
          <p:cNvSpPr txBox="1"/>
          <p:nvPr/>
        </p:nvSpPr>
        <p:spPr>
          <a:xfrm>
            <a:off x="750000" y="1380000"/>
            <a:ext cx="900000" cy="33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rmAutofit fontScale="92500" lnSpcReduction="20000"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7CEBFF"/>
                </a:solidFill>
              </a:rPr>
              <a:t>2023</a:t>
            </a:r>
          </a:p>
        </p:txBody>
      </p:sp>
      <p:sp>
        <p:nvSpPr>
          <p:cNvPr id="43" name="NodeTitle0"/>
          <p:cNvSpPr txBox="1"/>
          <p:nvPr/>
        </p:nvSpPr>
        <p:spPr>
          <a:xfrm>
            <a:off x="-200000" y="2680000"/>
            <a:ext cx="2800000" cy="38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t">
            <a:normAutofit lnSpcReduction="10000"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1A3A7C"/>
                </a:solidFill>
              </a:rPr>
              <a:t>Foundations</a:t>
            </a:r>
          </a:p>
        </p:txBody>
      </p:sp>
      <p:sp>
        <p:nvSpPr>
          <p:cNvPr id="44" name="NodeDesc0"/>
          <p:cNvSpPr txBox="1"/>
          <p:nvPr/>
        </p:nvSpPr>
        <p:spPr>
          <a:xfrm>
            <a:off x="-200000" y="3120000"/>
            <a:ext cx="2800000" cy="70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t">
            <a:normAutofit/>
          </a:bodyPr>
          <a:lstStyle/>
          <a:p>
            <a:pPr algn="ctr">
              <a:buNone/>
            </a:pPr>
            <a:r>
              <a:rPr lang="en-US" sz="1200" dirty="0">
                <a:solidFill>
                  <a:srgbClr val="444444"/>
                </a:solidFill>
              </a:rPr>
              <a:t>AWS CCP · Azure AZ-900</a:t>
            </a:r>
          </a:p>
          <a:p>
            <a:pPr algn="ctr">
              <a:buNone/>
            </a:pPr>
            <a:r>
              <a:rPr lang="en-US" sz="1200" dirty="0">
                <a:solidFill>
                  <a:srgbClr val="444444"/>
                </a:solidFill>
              </a:rPr>
              <a:t>Backend Dev · Statistics</a:t>
            </a:r>
          </a:p>
        </p:txBody>
      </p:sp>
      <p:sp>
        <p:nvSpPr>
          <p:cNvPr id="46" name="Node1"/>
          <p:cNvSpPr>
            <a:spLocks noTextEdit="1"/>
          </p:cNvSpPr>
          <p:nvPr/>
        </p:nvSpPr>
        <p:spPr>
          <a:xfrm>
            <a:off x="4266666" y="2180000"/>
            <a:ext cx="400000" cy="400000"/>
          </a:xfrm>
          <a:prstGeom prst="ellipse">
            <a:avLst/>
          </a:prstGeom>
          <a:solidFill>
            <a:srgbClr val="7CEB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7" name="Badge1"/>
          <p:cNvSpPr>
            <a:spLocks noTextEdit="1"/>
          </p:cNvSpPr>
          <p:nvPr/>
        </p:nvSpPr>
        <p:spPr>
          <a:xfrm>
            <a:off x="4016666" y="1380000"/>
            <a:ext cx="900000" cy="330000"/>
          </a:xfrm>
          <a:prstGeom prst="rect">
            <a:avLst/>
          </a:prstGeom>
          <a:solidFill>
            <a:srgbClr val="0D214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8" name="YearTxt1"/>
          <p:cNvSpPr txBox="1"/>
          <p:nvPr/>
        </p:nvSpPr>
        <p:spPr>
          <a:xfrm>
            <a:off x="4016666" y="1380000"/>
            <a:ext cx="900000" cy="33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rmAutofit fontScale="92500" lnSpcReduction="20000"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7CEBFF"/>
                </a:solidFill>
              </a:rPr>
              <a:t>2025</a:t>
            </a:r>
          </a:p>
        </p:txBody>
      </p:sp>
      <p:sp>
        <p:nvSpPr>
          <p:cNvPr id="49" name="NodeTitle1"/>
          <p:cNvSpPr txBox="1"/>
          <p:nvPr/>
        </p:nvSpPr>
        <p:spPr>
          <a:xfrm>
            <a:off x="3066666" y="2680000"/>
            <a:ext cx="2800000" cy="38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t">
            <a:normAutofit lnSpcReduction="10000"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1A3A7C"/>
                </a:solidFill>
              </a:rPr>
              <a:t>AI/ML Core</a:t>
            </a:r>
          </a:p>
        </p:txBody>
      </p:sp>
      <p:sp>
        <p:nvSpPr>
          <p:cNvPr id="50" name="NodeDesc1"/>
          <p:cNvSpPr txBox="1"/>
          <p:nvPr/>
        </p:nvSpPr>
        <p:spPr>
          <a:xfrm>
            <a:off x="3066666" y="3120000"/>
            <a:ext cx="2800000" cy="70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t">
            <a:normAutofit/>
          </a:bodyPr>
          <a:lstStyle/>
          <a:p>
            <a:pPr algn="ctr">
              <a:buNone/>
            </a:pPr>
            <a:r>
              <a:rPr lang="en-US" sz="1200" dirty="0">
                <a:solidFill>
                  <a:srgbClr val="444444"/>
                </a:solidFill>
              </a:rPr>
              <a:t>Computer Vision · EfficientNet-B0</a:t>
            </a:r>
          </a:p>
          <a:p>
            <a:pPr algn="ctr">
              <a:buNone/>
            </a:pPr>
            <a:r>
              <a:rPr lang="en-US" sz="1200" dirty="0">
                <a:solidFill>
                  <a:srgbClr val="444444"/>
                </a:solidFill>
              </a:rPr>
              <a:t>AI Security · RAG Pipelines</a:t>
            </a:r>
          </a:p>
        </p:txBody>
      </p:sp>
      <p:sp>
        <p:nvSpPr>
          <p:cNvPr id="52" name="Node2"/>
          <p:cNvSpPr>
            <a:spLocks noTextEdit="1"/>
          </p:cNvSpPr>
          <p:nvPr/>
        </p:nvSpPr>
        <p:spPr>
          <a:xfrm>
            <a:off x="7533333" y="2180000"/>
            <a:ext cx="400000" cy="400000"/>
          </a:xfrm>
          <a:prstGeom prst="ellipse">
            <a:avLst/>
          </a:prstGeom>
          <a:solidFill>
            <a:srgbClr val="7CEB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3" name="Badge2"/>
          <p:cNvSpPr>
            <a:spLocks noTextEdit="1"/>
          </p:cNvSpPr>
          <p:nvPr/>
        </p:nvSpPr>
        <p:spPr>
          <a:xfrm>
            <a:off x="7283333" y="1380000"/>
            <a:ext cx="900000" cy="330000"/>
          </a:xfrm>
          <a:prstGeom prst="rect">
            <a:avLst/>
          </a:prstGeom>
          <a:solidFill>
            <a:srgbClr val="0D214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4" name="YearTxt2"/>
          <p:cNvSpPr txBox="1"/>
          <p:nvPr/>
        </p:nvSpPr>
        <p:spPr>
          <a:xfrm>
            <a:off x="7283333" y="1380000"/>
            <a:ext cx="900000" cy="33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rmAutofit fontScale="92500" lnSpcReduction="20000"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7CEBFF"/>
                </a:solidFill>
              </a:rPr>
              <a:t>Late 2026</a:t>
            </a:r>
          </a:p>
        </p:txBody>
      </p:sp>
      <p:sp>
        <p:nvSpPr>
          <p:cNvPr id="55" name="NodeTitle2"/>
          <p:cNvSpPr txBox="1"/>
          <p:nvPr/>
        </p:nvSpPr>
        <p:spPr>
          <a:xfrm>
            <a:off x="6333333" y="2680000"/>
            <a:ext cx="2800000" cy="38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t">
            <a:normAutofit lnSpcReduction="10000"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1A3A7C"/>
                </a:solidFill>
              </a:rPr>
              <a:t>NLP Systems</a:t>
            </a:r>
          </a:p>
        </p:txBody>
      </p:sp>
      <p:sp>
        <p:nvSpPr>
          <p:cNvPr id="56" name="NodeDesc2"/>
          <p:cNvSpPr txBox="1"/>
          <p:nvPr/>
        </p:nvSpPr>
        <p:spPr>
          <a:xfrm>
            <a:off x="6333333" y="3120000"/>
            <a:ext cx="2800000" cy="70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t">
            <a:normAutofit/>
          </a:bodyPr>
          <a:lstStyle/>
          <a:p>
            <a:pPr algn="ctr">
              <a:buNone/>
            </a:pPr>
            <a:r>
              <a:rPr lang="en-US" sz="1200" dirty="0">
                <a:solidFill>
                  <a:srgbClr val="444444"/>
                </a:solidFill>
              </a:rPr>
              <a:t>NewsBot · TF-IDF · NER</a:t>
            </a:r>
          </a:p>
          <a:p>
            <a:pPr algn="ctr">
              <a:buNone/>
            </a:pPr>
            <a:r>
              <a:rPr lang="en-US" sz="1200" dirty="0">
                <a:solidFill>
                  <a:srgbClr val="444444"/>
                </a:solidFill>
              </a:rPr>
              <a:t>Sentiment Analysis · spaCy</a:t>
            </a:r>
          </a:p>
        </p:txBody>
      </p:sp>
      <p:sp>
        <p:nvSpPr>
          <p:cNvPr id="58" name="Node3"/>
          <p:cNvSpPr>
            <a:spLocks noTextEdit="1"/>
          </p:cNvSpPr>
          <p:nvPr/>
        </p:nvSpPr>
        <p:spPr>
          <a:xfrm>
            <a:off x="10800000" y="2180000"/>
            <a:ext cx="400000" cy="400000"/>
          </a:xfrm>
          <a:prstGeom prst="ellipse">
            <a:avLst/>
          </a:prstGeom>
          <a:solidFill>
            <a:srgbClr val="7CEB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9" name="Badge3"/>
          <p:cNvSpPr>
            <a:spLocks noTextEdit="1"/>
          </p:cNvSpPr>
          <p:nvPr/>
        </p:nvSpPr>
        <p:spPr>
          <a:xfrm>
            <a:off x="10550000" y="1380000"/>
            <a:ext cx="900000" cy="330000"/>
          </a:xfrm>
          <a:prstGeom prst="rect">
            <a:avLst/>
          </a:prstGeom>
          <a:solidFill>
            <a:srgbClr val="0D214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YearTxt3"/>
          <p:cNvSpPr txBox="1"/>
          <p:nvPr/>
        </p:nvSpPr>
        <p:spPr>
          <a:xfrm>
            <a:off x="10550000" y="1380000"/>
            <a:ext cx="900000" cy="33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rmAutofit fontScale="92500" lnSpcReduction="20000"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7CEBFF"/>
                </a:solidFill>
              </a:rPr>
              <a:t>2026</a:t>
            </a:r>
          </a:p>
        </p:txBody>
      </p:sp>
      <p:sp>
        <p:nvSpPr>
          <p:cNvPr id="61" name="NodeTitle3"/>
          <p:cNvSpPr txBox="1"/>
          <p:nvPr/>
        </p:nvSpPr>
        <p:spPr>
          <a:xfrm>
            <a:off x="9600000" y="2680000"/>
            <a:ext cx="2800000" cy="38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t">
            <a:normAutofit lnSpcReduction="10000"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1A3A7C"/>
                </a:solidFill>
              </a:rPr>
              <a:t>Autonomy</a:t>
            </a:r>
          </a:p>
        </p:txBody>
      </p:sp>
      <p:sp>
        <p:nvSpPr>
          <p:cNvPr id="62" name="NodeDesc3"/>
          <p:cNvSpPr txBox="1"/>
          <p:nvPr/>
        </p:nvSpPr>
        <p:spPr>
          <a:xfrm>
            <a:off x="9600000" y="3120000"/>
            <a:ext cx="2800000" cy="70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t">
            <a:normAutofit/>
          </a:bodyPr>
          <a:lstStyle/>
          <a:p>
            <a:pPr algn="ctr">
              <a:buNone/>
            </a:pPr>
            <a:r>
              <a:rPr lang="en-US" sz="1200" dirty="0">
                <a:solidFill>
                  <a:srgbClr val="444444"/>
                </a:solidFill>
              </a:rPr>
              <a:t>ROS 2 Robotics · RPLIDAR</a:t>
            </a:r>
          </a:p>
          <a:p>
            <a:pPr algn="ctr">
              <a:buNone/>
            </a:pPr>
            <a:r>
              <a:rPr lang="en-US" sz="1200" dirty="0">
                <a:solidFill>
                  <a:srgbClr val="444444"/>
                </a:solidFill>
              </a:rPr>
              <a:t>Robot Car</a:t>
            </a:r>
          </a:p>
        </p:txBody>
      </p:sp>
      <p:sp>
        <p:nvSpPr>
          <p:cNvPr id="90" name="Tag0"/>
          <p:cNvSpPr>
            <a:spLocks noTextEdit="1"/>
          </p:cNvSpPr>
          <p:nvPr/>
        </p:nvSpPr>
        <p:spPr>
          <a:xfrm>
            <a:off x="644000" y="4500000"/>
            <a:ext cx="850000" cy="270000"/>
          </a:xfrm>
          <a:prstGeom prst="rect">
            <a:avLst/>
          </a:prstGeom>
          <a:solidFill>
            <a:srgbClr val="E8F0FE"/>
          </a:solidFill>
          <a:ln w="9525">
            <a:solidFill>
              <a:srgbClr val="1A3A7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1" name="TagT0"/>
          <p:cNvSpPr txBox="1"/>
          <p:nvPr/>
        </p:nvSpPr>
        <p:spPr>
          <a:xfrm>
            <a:off x="644000" y="4500000"/>
            <a:ext cx="850000" cy="27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rmAutofit fontScale="62500" lnSpcReduction="20000"/>
          </a:bodyPr>
          <a:lstStyle/>
          <a:p>
            <a:pPr algn="ctr">
              <a:buNone/>
            </a:pPr>
            <a:r>
              <a:rPr lang="en-US" sz="1100" b="1" dirty="0">
                <a:solidFill>
                  <a:srgbClr val="0D2149"/>
                </a:solidFill>
              </a:rPr>
              <a:t>Python</a:t>
            </a:r>
          </a:p>
        </p:txBody>
      </p:sp>
      <p:sp>
        <p:nvSpPr>
          <p:cNvPr id="91" name="Tag1"/>
          <p:cNvSpPr>
            <a:spLocks noTextEdit="1"/>
          </p:cNvSpPr>
          <p:nvPr/>
        </p:nvSpPr>
        <p:spPr>
          <a:xfrm>
            <a:off x="1814000" y="4500000"/>
            <a:ext cx="850000" cy="270000"/>
          </a:xfrm>
          <a:prstGeom prst="rect">
            <a:avLst/>
          </a:prstGeom>
          <a:solidFill>
            <a:srgbClr val="E8F0FE"/>
          </a:solidFill>
          <a:ln w="9525">
            <a:solidFill>
              <a:srgbClr val="1A3A7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2" name="TagT1"/>
          <p:cNvSpPr txBox="1"/>
          <p:nvPr/>
        </p:nvSpPr>
        <p:spPr>
          <a:xfrm>
            <a:off x="1814000" y="4500000"/>
            <a:ext cx="850000" cy="27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rmAutofit fontScale="62500" lnSpcReduction="20000"/>
          </a:bodyPr>
          <a:lstStyle/>
          <a:p>
            <a:pPr algn="ctr">
              <a:buNone/>
            </a:pPr>
            <a:r>
              <a:rPr lang="en-US" sz="1100" b="1" dirty="0">
                <a:solidFill>
                  <a:srgbClr val="0D2149"/>
                </a:solidFill>
              </a:rPr>
              <a:t>PyTorch</a:t>
            </a:r>
          </a:p>
        </p:txBody>
      </p:sp>
      <p:sp>
        <p:nvSpPr>
          <p:cNvPr id="92" name="Tag2"/>
          <p:cNvSpPr>
            <a:spLocks noTextEdit="1"/>
          </p:cNvSpPr>
          <p:nvPr/>
        </p:nvSpPr>
        <p:spPr>
          <a:xfrm>
            <a:off x="2984000" y="4500000"/>
            <a:ext cx="850000" cy="270000"/>
          </a:xfrm>
          <a:prstGeom prst="rect">
            <a:avLst/>
          </a:prstGeom>
          <a:solidFill>
            <a:srgbClr val="E8F0FE"/>
          </a:solidFill>
          <a:ln w="9525">
            <a:solidFill>
              <a:srgbClr val="1A3A7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3" name="TagT2"/>
          <p:cNvSpPr txBox="1"/>
          <p:nvPr/>
        </p:nvSpPr>
        <p:spPr>
          <a:xfrm>
            <a:off x="2984000" y="4500000"/>
            <a:ext cx="850000" cy="27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rmAutofit fontScale="62500" lnSpcReduction="20000"/>
          </a:bodyPr>
          <a:lstStyle/>
          <a:p>
            <a:pPr algn="ctr">
              <a:buNone/>
            </a:pPr>
            <a:r>
              <a:rPr lang="en-US" sz="1100" b="1" dirty="0">
                <a:solidFill>
                  <a:srgbClr val="0D2149"/>
                </a:solidFill>
              </a:rPr>
              <a:t>TensorFlow</a:t>
            </a:r>
          </a:p>
        </p:txBody>
      </p:sp>
      <p:sp>
        <p:nvSpPr>
          <p:cNvPr id="93" name="Tag3"/>
          <p:cNvSpPr>
            <a:spLocks noTextEdit="1"/>
          </p:cNvSpPr>
          <p:nvPr/>
        </p:nvSpPr>
        <p:spPr>
          <a:xfrm>
            <a:off x="4154000" y="4500000"/>
            <a:ext cx="850000" cy="270000"/>
          </a:xfrm>
          <a:prstGeom prst="rect">
            <a:avLst/>
          </a:prstGeom>
          <a:solidFill>
            <a:srgbClr val="E8F0FE"/>
          </a:solidFill>
          <a:ln w="9525">
            <a:solidFill>
              <a:srgbClr val="1A3A7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4" name="TagT3"/>
          <p:cNvSpPr txBox="1"/>
          <p:nvPr/>
        </p:nvSpPr>
        <p:spPr>
          <a:xfrm>
            <a:off x="4154000" y="4500000"/>
            <a:ext cx="850000" cy="27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rmAutofit fontScale="62500" lnSpcReduction="20000"/>
          </a:bodyPr>
          <a:lstStyle/>
          <a:p>
            <a:pPr algn="ctr">
              <a:buNone/>
            </a:pPr>
            <a:r>
              <a:rPr lang="en-US" sz="1100" b="1" dirty="0">
                <a:solidFill>
                  <a:srgbClr val="0D2149"/>
                </a:solidFill>
              </a:rPr>
              <a:t>ROS 2</a:t>
            </a:r>
          </a:p>
        </p:txBody>
      </p:sp>
      <p:sp>
        <p:nvSpPr>
          <p:cNvPr id="94" name="Tag4"/>
          <p:cNvSpPr>
            <a:spLocks noTextEdit="1"/>
          </p:cNvSpPr>
          <p:nvPr/>
        </p:nvSpPr>
        <p:spPr>
          <a:xfrm>
            <a:off x="5324000" y="4500000"/>
            <a:ext cx="850000" cy="270000"/>
          </a:xfrm>
          <a:prstGeom prst="rect">
            <a:avLst/>
          </a:prstGeom>
          <a:solidFill>
            <a:srgbClr val="E8F0FE"/>
          </a:solidFill>
          <a:ln w="9525">
            <a:solidFill>
              <a:srgbClr val="1A3A7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5" name="TagT4"/>
          <p:cNvSpPr txBox="1"/>
          <p:nvPr/>
        </p:nvSpPr>
        <p:spPr>
          <a:xfrm>
            <a:off x="5324000" y="4500000"/>
            <a:ext cx="850000" cy="27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rmAutofit fontScale="62500" lnSpcReduction="20000"/>
          </a:bodyPr>
          <a:lstStyle/>
          <a:p>
            <a:pPr algn="ctr">
              <a:buNone/>
            </a:pPr>
            <a:r>
              <a:rPr lang="en-US" sz="1100" b="1" dirty="0">
                <a:solidFill>
                  <a:srgbClr val="0D2149"/>
                </a:solidFill>
              </a:rPr>
              <a:t>LLaMA 3.2</a:t>
            </a:r>
          </a:p>
        </p:txBody>
      </p:sp>
      <p:sp>
        <p:nvSpPr>
          <p:cNvPr id="95" name="Tag5"/>
          <p:cNvSpPr>
            <a:spLocks noTextEdit="1"/>
          </p:cNvSpPr>
          <p:nvPr/>
        </p:nvSpPr>
        <p:spPr>
          <a:xfrm>
            <a:off x="6494000" y="4500000"/>
            <a:ext cx="850000" cy="270000"/>
          </a:xfrm>
          <a:prstGeom prst="rect">
            <a:avLst/>
          </a:prstGeom>
          <a:solidFill>
            <a:srgbClr val="E8F0FE"/>
          </a:solidFill>
          <a:ln w="9525">
            <a:solidFill>
              <a:srgbClr val="1A3A7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6" name="TagT5"/>
          <p:cNvSpPr txBox="1"/>
          <p:nvPr/>
        </p:nvSpPr>
        <p:spPr>
          <a:xfrm>
            <a:off x="6494000" y="4500000"/>
            <a:ext cx="850000" cy="27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rmAutofit fontScale="62500" lnSpcReduction="20000"/>
          </a:bodyPr>
          <a:lstStyle/>
          <a:p>
            <a:pPr algn="ctr">
              <a:buNone/>
            </a:pPr>
            <a:r>
              <a:rPr lang="en-US" sz="1100" b="1" dirty="0">
                <a:solidFill>
                  <a:srgbClr val="0D2149"/>
                </a:solidFill>
              </a:rPr>
              <a:t>spaCy</a:t>
            </a:r>
          </a:p>
        </p:txBody>
      </p:sp>
      <p:sp>
        <p:nvSpPr>
          <p:cNvPr id="96" name="Tag6"/>
          <p:cNvSpPr>
            <a:spLocks noTextEdit="1"/>
          </p:cNvSpPr>
          <p:nvPr/>
        </p:nvSpPr>
        <p:spPr>
          <a:xfrm>
            <a:off x="7664000" y="4500000"/>
            <a:ext cx="850000" cy="270000"/>
          </a:xfrm>
          <a:prstGeom prst="rect">
            <a:avLst/>
          </a:prstGeom>
          <a:solidFill>
            <a:srgbClr val="E8F0FE"/>
          </a:solidFill>
          <a:ln w="9525">
            <a:solidFill>
              <a:srgbClr val="1A3A7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7" name="TagT6"/>
          <p:cNvSpPr txBox="1"/>
          <p:nvPr/>
        </p:nvSpPr>
        <p:spPr>
          <a:xfrm>
            <a:off x="7664000" y="4500000"/>
            <a:ext cx="850000" cy="27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rmAutofit fontScale="62500" lnSpcReduction="20000"/>
          </a:bodyPr>
          <a:lstStyle/>
          <a:p>
            <a:pPr algn="ctr">
              <a:buNone/>
            </a:pPr>
            <a:r>
              <a:rPr lang="en-US" sz="1100" b="1" dirty="0">
                <a:solidFill>
                  <a:srgbClr val="0D2149"/>
                </a:solidFill>
              </a:rPr>
              <a:t>LangChain</a:t>
            </a:r>
          </a:p>
        </p:txBody>
      </p:sp>
      <p:sp>
        <p:nvSpPr>
          <p:cNvPr id="97" name="Tag7"/>
          <p:cNvSpPr>
            <a:spLocks noTextEdit="1"/>
          </p:cNvSpPr>
          <p:nvPr/>
        </p:nvSpPr>
        <p:spPr>
          <a:xfrm>
            <a:off x="8834000" y="4500000"/>
            <a:ext cx="850000" cy="270000"/>
          </a:xfrm>
          <a:prstGeom prst="rect">
            <a:avLst/>
          </a:prstGeom>
          <a:solidFill>
            <a:srgbClr val="E8F0FE"/>
          </a:solidFill>
          <a:ln w="9525">
            <a:solidFill>
              <a:srgbClr val="1A3A7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8" name="TagT7"/>
          <p:cNvSpPr txBox="1"/>
          <p:nvPr/>
        </p:nvSpPr>
        <p:spPr>
          <a:xfrm>
            <a:off x="8834000" y="4500000"/>
            <a:ext cx="850000" cy="27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rmAutofit fontScale="62500" lnSpcReduction="20000"/>
          </a:bodyPr>
          <a:lstStyle/>
          <a:p>
            <a:pPr algn="ctr">
              <a:buNone/>
            </a:pPr>
            <a:r>
              <a:rPr lang="en-US" sz="1100" b="1" dirty="0">
                <a:solidFill>
                  <a:srgbClr val="0D2149"/>
                </a:solidFill>
              </a:rPr>
              <a:t>AWS</a:t>
            </a:r>
          </a:p>
        </p:txBody>
      </p:sp>
      <p:sp>
        <p:nvSpPr>
          <p:cNvPr id="98" name="Tag8"/>
          <p:cNvSpPr>
            <a:spLocks noTextEdit="1"/>
          </p:cNvSpPr>
          <p:nvPr/>
        </p:nvSpPr>
        <p:spPr>
          <a:xfrm>
            <a:off x="10004000" y="4500000"/>
            <a:ext cx="850000" cy="270000"/>
          </a:xfrm>
          <a:prstGeom prst="rect">
            <a:avLst/>
          </a:prstGeom>
          <a:solidFill>
            <a:srgbClr val="E8F0FE"/>
          </a:solidFill>
          <a:ln w="9525">
            <a:solidFill>
              <a:srgbClr val="1A3A7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9" name="TagT8"/>
          <p:cNvSpPr txBox="1"/>
          <p:nvPr/>
        </p:nvSpPr>
        <p:spPr>
          <a:xfrm>
            <a:off x="10004000" y="4500000"/>
            <a:ext cx="850000" cy="27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rmAutofit fontScale="62500" lnSpcReduction="20000"/>
          </a:bodyPr>
          <a:lstStyle/>
          <a:p>
            <a:pPr algn="ctr">
              <a:buNone/>
            </a:pPr>
            <a:r>
              <a:rPr lang="en-US" sz="1100" b="1" dirty="0">
                <a:solidFill>
                  <a:srgbClr val="0D2149"/>
                </a:solidFill>
              </a:rPr>
              <a:t>Azure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rkBg"/>
          <p:cNvSpPr>
            <a:spLocks noTextEdit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B1"/>
          <p:cNvSpPr>
            <a:spLocks noTextEdit="1"/>
          </p:cNvSpPr>
          <p:nvPr/>
        </p:nvSpPr>
        <p:spPr>
          <a:xfrm>
            <a:off x="446534" y="457200"/>
            <a:ext cx="3703320" cy="80000"/>
          </a:xfrm>
          <a:prstGeom prst="rect">
            <a:avLst/>
          </a:prstGeom>
          <a:solidFill>
            <a:srgbClr val="1A3A7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B2"/>
          <p:cNvSpPr>
            <a:spLocks noTextEdit="1"/>
          </p:cNvSpPr>
          <p:nvPr/>
        </p:nvSpPr>
        <p:spPr>
          <a:xfrm>
            <a:off x="4241830" y="457200"/>
            <a:ext cx="3703320" cy="80000"/>
          </a:xfrm>
          <a:prstGeom prst="rect">
            <a:avLst/>
          </a:prstGeom>
          <a:solidFill>
            <a:srgbClr val="7CEB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SlideTitle"/>
          <p:cNvSpPr txBox="1"/>
          <p:nvPr/>
        </p:nvSpPr>
        <p:spPr>
          <a:xfrm>
            <a:off x="580000" y="640000"/>
            <a:ext cx="11032000" cy="52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rmAutofit fontScale="92500" lnSpcReduction="20000"/>
          </a:bodyPr>
          <a:lstStyle/>
          <a:p>
            <a:pPr algn="l">
              <a:buNone/>
            </a:pPr>
            <a:r>
              <a:rPr lang="en-US" sz="2800" b="1" dirty="0">
                <a:solidFill>
                  <a:srgbClr val="FFFFFF"/>
                </a:solidFill>
              </a:rPr>
              <a:t>FEATURED PROJECTS</a:t>
            </a:r>
          </a:p>
        </p:txBody>
      </p:sp>
      <p:sp>
        <p:nvSpPr>
          <p:cNvPr id="15" name="TitleLine"/>
          <p:cNvSpPr>
            <a:spLocks noTextEdit="1"/>
          </p:cNvSpPr>
          <p:nvPr/>
        </p:nvSpPr>
        <p:spPr>
          <a:xfrm>
            <a:off x="580000" y="1200000"/>
            <a:ext cx="3200000" cy="60000"/>
          </a:xfrm>
          <a:prstGeom prst="rect">
            <a:avLst/>
          </a:prstGeom>
          <a:solidFill>
            <a:srgbClr val="7CEB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Card0"/>
          <p:cNvSpPr>
            <a:spLocks noTextEdit="1"/>
          </p:cNvSpPr>
          <p:nvPr/>
        </p:nvSpPr>
        <p:spPr>
          <a:xfrm>
            <a:off x="350000" y="1380000"/>
            <a:ext cx="3600000" cy="4900000"/>
          </a:xfrm>
          <a:prstGeom prst="rect">
            <a:avLst/>
          </a:prstGeom>
          <a:solidFill>
            <a:srgbClr val="0A2A5C"/>
          </a:solidFill>
          <a:ln w="19050">
            <a:solidFill>
              <a:srgbClr val="7CEB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Badge0"/>
          <p:cNvSpPr>
            <a:spLocks noTextEdit="1"/>
          </p:cNvSpPr>
          <p:nvPr/>
        </p:nvSpPr>
        <p:spPr>
          <a:xfrm>
            <a:off x="350000" y="1380000"/>
            <a:ext cx="3600000" cy="220000"/>
          </a:xfrm>
          <a:prstGeom prst="rect">
            <a:avLst/>
          </a:prstGeom>
          <a:solidFill>
            <a:srgbClr val="7CEB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BadgeTxt0"/>
          <p:cNvSpPr txBox="1"/>
          <p:nvPr/>
        </p:nvSpPr>
        <p:spPr>
          <a:xfrm>
            <a:off x="350000" y="1380000"/>
            <a:ext cx="3600000" cy="22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rmAutofit fontScale="32500" lnSpcReduction="20000"/>
          </a:bodyPr>
          <a:lstStyle/>
          <a:p>
            <a:pPr algn="ctr">
              <a:buNone/>
            </a:pPr>
            <a:r>
              <a:rPr lang="en-US" sz="1000" b="1" dirty="0">
                <a:solidFill>
                  <a:srgbClr val="050F2E"/>
                </a:solidFill>
              </a:rPr>
              <a:t>AI SECURITY</a:t>
            </a:r>
          </a:p>
        </p:txBody>
      </p:sp>
      <p:sp>
        <p:nvSpPr>
          <p:cNvPr id="23" name="PTitle0"/>
          <p:cNvSpPr txBox="1"/>
          <p:nvPr/>
        </p:nvSpPr>
        <p:spPr>
          <a:xfrm>
            <a:off x="470000" y="1670000"/>
            <a:ext cx="3360000" cy="52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t">
            <a:normAutofit/>
          </a:bodyPr>
          <a:lstStyle/>
          <a:p>
            <a:pPr algn="l">
              <a:buNone/>
            </a:pPr>
            <a:r>
              <a:rPr lang="en-US" sz="1800" b="1" dirty="0">
                <a:solidFill>
                  <a:srgbClr val="FFFFFF"/>
                </a:solidFill>
              </a:rPr>
              <a:t>Secure Oracle Initiative</a:t>
            </a:r>
          </a:p>
        </p:txBody>
      </p:sp>
      <p:sp>
        <p:nvSpPr>
          <p:cNvPr id="24" name="PDesc0"/>
          <p:cNvSpPr txBox="1"/>
          <p:nvPr/>
        </p:nvSpPr>
        <p:spPr>
          <a:xfrm>
            <a:off x="470000" y="2260000"/>
            <a:ext cx="3360000" cy="120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t">
            <a:normAutofit/>
          </a:bodyPr>
          <a:lstStyle/>
          <a:p>
            <a:pPr algn="l">
              <a:buNone/>
            </a:pPr>
            <a:r>
              <a:rPr lang="en-US" sz="1300" dirty="0">
                <a:solidFill>
                  <a:srgbClr val="CCDDFF"/>
                </a:solidFill>
              </a:rPr>
              <a:t>Dual-shield RAG pipeline protecting healthcare patient data from unauthorized LLM retrieval, with live breach detection.</a:t>
            </a:r>
          </a:p>
        </p:txBody>
      </p:sp>
      <p:sp>
        <p:nvSpPr>
          <p:cNvPr id="25" name="Div0"/>
          <p:cNvSpPr>
            <a:spLocks noTextEdit="1"/>
          </p:cNvSpPr>
          <p:nvPr/>
        </p:nvSpPr>
        <p:spPr>
          <a:xfrm>
            <a:off x="470000" y="3560000"/>
            <a:ext cx="3360000" cy="40000"/>
          </a:xfrm>
          <a:prstGeom prst="rect">
            <a:avLst/>
          </a:prstGeom>
          <a:solidFill>
            <a:srgbClr val="7CEB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TechLabel0"/>
          <p:cNvSpPr txBox="1"/>
          <p:nvPr/>
        </p:nvSpPr>
        <p:spPr>
          <a:xfrm>
            <a:off x="470000" y="3690000"/>
            <a:ext cx="3360000" cy="24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t">
            <a:normAutofit fontScale="47500" lnSpcReduction="20000"/>
          </a:bodyPr>
          <a:lstStyle/>
          <a:p>
            <a:pPr algn="l">
              <a:buNone/>
            </a:pPr>
            <a:r>
              <a:rPr lang="en-US" sz="900" b="1" dirty="0">
                <a:solidFill>
                  <a:srgbClr val="7CEBFF"/>
                </a:solidFill>
              </a:rPr>
              <a:t>STACK</a:t>
            </a:r>
          </a:p>
        </p:txBody>
      </p:sp>
      <p:sp>
        <p:nvSpPr>
          <p:cNvPr id="27" name="PTech0"/>
          <p:cNvSpPr txBox="1"/>
          <p:nvPr/>
        </p:nvSpPr>
        <p:spPr>
          <a:xfrm>
            <a:off x="470000" y="3970000"/>
            <a:ext cx="3360000" cy="70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t">
            <a:normAutofit/>
          </a:bodyPr>
          <a:lstStyle/>
          <a:p>
            <a:pPr algn="l">
              <a:buNone/>
            </a:pPr>
            <a:r>
              <a:rPr lang="en-US" sz="1100" i="1" dirty="0">
                <a:solidFill>
                  <a:srgbClr val="AABBDD"/>
                </a:solidFill>
              </a:rPr>
              <a:t>LangChain · ChromaDB · Gradio · NIST AI RMF · Google Colab</a:t>
            </a:r>
          </a:p>
        </p:txBody>
      </p:sp>
      <p:sp>
        <p:nvSpPr>
          <p:cNvPr id="28" name="LinkBg0"/>
          <p:cNvSpPr>
            <a:spLocks noTextEdit="1"/>
          </p:cNvSpPr>
          <p:nvPr/>
        </p:nvSpPr>
        <p:spPr>
          <a:xfrm>
            <a:off x="470000" y="5840000"/>
            <a:ext cx="3360000" cy="270000"/>
          </a:xfrm>
          <a:prstGeom prst="rect">
            <a:avLst/>
          </a:prstGeom>
          <a:solidFill>
            <a:srgbClr val="0D2149"/>
          </a:solidFill>
          <a:ln w="9525">
            <a:solidFill>
              <a:srgbClr val="7CEB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LinkTxt0"/>
          <p:cNvSpPr txBox="1"/>
          <p:nvPr/>
        </p:nvSpPr>
        <p:spPr>
          <a:xfrm>
            <a:off x="470000" y="5512800"/>
            <a:ext cx="3360000" cy="5972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rmAutofit/>
          </a:bodyPr>
          <a:lstStyle/>
          <a:p>
            <a:pPr algn="ctr">
              <a:buNone/>
            </a:pPr>
            <a:r>
              <a:rPr lang="en-US" sz="1050" dirty="0">
                <a:solidFill>
                  <a:srgbClr val="7CEBFF"/>
                </a:solidFill>
              </a:rPr>
              <a:t>🔗 </a:t>
            </a:r>
          </a:p>
        </p:txBody>
      </p:sp>
      <p:sp>
        <p:nvSpPr>
          <p:cNvPr id="32" name="Card1"/>
          <p:cNvSpPr>
            <a:spLocks noTextEdit="1"/>
          </p:cNvSpPr>
          <p:nvPr/>
        </p:nvSpPr>
        <p:spPr>
          <a:xfrm>
            <a:off x="4150000" y="1380000"/>
            <a:ext cx="3600000" cy="4900000"/>
          </a:xfrm>
          <a:prstGeom prst="rect">
            <a:avLst/>
          </a:prstGeom>
          <a:solidFill>
            <a:srgbClr val="0A2A5C"/>
          </a:solidFill>
          <a:ln w="19050">
            <a:solidFill>
              <a:srgbClr val="4AC8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3" name="Badge1"/>
          <p:cNvSpPr>
            <a:spLocks noTextEdit="1"/>
          </p:cNvSpPr>
          <p:nvPr/>
        </p:nvSpPr>
        <p:spPr>
          <a:xfrm>
            <a:off x="4150000" y="1380000"/>
            <a:ext cx="3600000" cy="220000"/>
          </a:xfrm>
          <a:prstGeom prst="rect">
            <a:avLst/>
          </a:prstGeom>
          <a:solidFill>
            <a:srgbClr val="4AC8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BadgeTxt1"/>
          <p:cNvSpPr txBox="1"/>
          <p:nvPr/>
        </p:nvSpPr>
        <p:spPr>
          <a:xfrm>
            <a:off x="4150000" y="1380000"/>
            <a:ext cx="3600000" cy="22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rmAutofit fontScale="32500" lnSpcReduction="20000"/>
          </a:bodyPr>
          <a:lstStyle/>
          <a:p>
            <a:pPr algn="ctr">
              <a:buNone/>
            </a:pPr>
            <a:r>
              <a:rPr lang="en-US" sz="1000" b="1" dirty="0">
                <a:solidFill>
                  <a:srgbClr val="050F2E"/>
                </a:solidFill>
              </a:rPr>
              <a:t>NLP</a:t>
            </a:r>
          </a:p>
        </p:txBody>
      </p:sp>
      <p:sp>
        <p:nvSpPr>
          <p:cNvPr id="35" name="PTitle1"/>
          <p:cNvSpPr txBox="1"/>
          <p:nvPr/>
        </p:nvSpPr>
        <p:spPr>
          <a:xfrm>
            <a:off x="4270000" y="1670000"/>
            <a:ext cx="3360000" cy="52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t">
            <a:normAutofit/>
          </a:bodyPr>
          <a:lstStyle/>
          <a:p>
            <a:pPr algn="l">
              <a:buNone/>
            </a:pPr>
            <a:r>
              <a:rPr lang="en-US" sz="1800" b="1" dirty="0">
                <a:solidFill>
                  <a:srgbClr val="FFFFFF"/>
                </a:solidFill>
              </a:rPr>
              <a:t>NewsBot 2.0</a:t>
            </a:r>
          </a:p>
        </p:txBody>
      </p:sp>
      <p:sp>
        <p:nvSpPr>
          <p:cNvPr id="36" name="PDesc1"/>
          <p:cNvSpPr txBox="1"/>
          <p:nvPr/>
        </p:nvSpPr>
        <p:spPr>
          <a:xfrm>
            <a:off x="4270000" y="2260000"/>
            <a:ext cx="3360000" cy="120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t">
            <a:normAutofit/>
          </a:bodyPr>
          <a:lstStyle/>
          <a:p>
            <a:pPr algn="l">
              <a:buNone/>
            </a:pPr>
            <a:r>
              <a:rPr lang="en-US" sz="1300" dirty="0">
                <a:solidFill>
                  <a:srgbClr val="CCDDFF"/>
                </a:solidFill>
              </a:rPr>
              <a:t>Modular news intelligence system with LLM Q&amp;A, multilingual support, topic modeling, and abstractive summarization.</a:t>
            </a:r>
          </a:p>
        </p:txBody>
      </p:sp>
      <p:sp>
        <p:nvSpPr>
          <p:cNvPr id="37" name="Div1"/>
          <p:cNvSpPr>
            <a:spLocks noTextEdit="1"/>
          </p:cNvSpPr>
          <p:nvPr/>
        </p:nvSpPr>
        <p:spPr>
          <a:xfrm>
            <a:off x="4270000" y="3560000"/>
            <a:ext cx="3360000" cy="40000"/>
          </a:xfrm>
          <a:prstGeom prst="rect">
            <a:avLst/>
          </a:prstGeom>
          <a:solidFill>
            <a:srgbClr val="4AC8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8" name="TechLabel1"/>
          <p:cNvSpPr txBox="1"/>
          <p:nvPr/>
        </p:nvSpPr>
        <p:spPr>
          <a:xfrm>
            <a:off x="4270000" y="3690000"/>
            <a:ext cx="3360000" cy="24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t">
            <a:normAutofit fontScale="47500" lnSpcReduction="20000"/>
          </a:bodyPr>
          <a:lstStyle/>
          <a:p>
            <a:pPr algn="l">
              <a:buNone/>
            </a:pPr>
            <a:r>
              <a:rPr lang="en-US" sz="900" b="1" dirty="0">
                <a:solidFill>
                  <a:srgbClr val="4AC8FF"/>
                </a:solidFill>
              </a:rPr>
              <a:t>STACK</a:t>
            </a:r>
          </a:p>
        </p:txBody>
      </p:sp>
      <p:sp>
        <p:nvSpPr>
          <p:cNvPr id="39" name="PTech1"/>
          <p:cNvSpPr txBox="1"/>
          <p:nvPr/>
        </p:nvSpPr>
        <p:spPr>
          <a:xfrm>
            <a:off x="4270000" y="3970000"/>
            <a:ext cx="3360000" cy="70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t">
            <a:normAutofit/>
          </a:bodyPr>
          <a:lstStyle/>
          <a:p>
            <a:pPr algn="l">
              <a:buNone/>
            </a:pPr>
            <a:r>
              <a:rPr lang="en-US" sz="1100" i="1" dirty="0">
                <a:solidFill>
                  <a:srgbClr val="AABBDD"/>
                </a:solidFill>
              </a:rPr>
              <a:t>LLaMA 3.2 · Ollama · spaCy · NLTK · LDA · Gradio</a:t>
            </a:r>
          </a:p>
        </p:txBody>
      </p:sp>
      <p:sp>
        <p:nvSpPr>
          <p:cNvPr id="40" name="LinkBg1"/>
          <p:cNvSpPr>
            <a:spLocks noTextEdit="1"/>
          </p:cNvSpPr>
          <p:nvPr/>
        </p:nvSpPr>
        <p:spPr>
          <a:xfrm>
            <a:off x="4270000" y="5840000"/>
            <a:ext cx="3360000" cy="270000"/>
          </a:xfrm>
          <a:prstGeom prst="rect">
            <a:avLst/>
          </a:prstGeom>
          <a:solidFill>
            <a:srgbClr val="0D2149"/>
          </a:solidFill>
          <a:ln w="9525">
            <a:solidFill>
              <a:srgbClr val="4AC8F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1" name="LinkTxt1"/>
          <p:cNvSpPr txBox="1"/>
          <p:nvPr/>
        </p:nvSpPr>
        <p:spPr>
          <a:xfrm>
            <a:off x="4270000" y="5670000"/>
            <a:ext cx="3360000" cy="44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rmAutofit/>
          </a:bodyPr>
          <a:lstStyle/>
          <a:p>
            <a:pPr algn="ctr">
              <a:buNone/>
            </a:pPr>
            <a:r>
              <a:rPr lang="en-US" sz="1050" dirty="0" err="1">
                <a:solidFill>
                  <a:schemeClr val="bg2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sz="1050" dirty="0">
              <a:solidFill>
                <a:schemeClr val="bg2"/>
              </a:solidFill>
            </a:endParaRPr>
          </a:p>
        </p:txBody>
      </p:sp>
      <p:sp>
        <p:nvSpPr>
          <p:cNvPr id="48" name="PDesc2"/>
          <p:cNvSpPr txBox="1"/>
          <p:nvPr/>
        </p:nvSpPr>
        <p:spPr>
          <a:xfrm>
            <a:off x="8070000" y="2260000"/>
            <a:ext cx="3360000" cy="120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t">
            <a:normAutofit/>
          </a:bodyPr>
          <a:lstStyle/>
          <a:p>
            <a:pPr algn="l">
              <a:buNone/>
            </a:pPr>
            <a:endParaRPr lang="en-US" sz="1300" dirty="0">
              <a:solidFill>
                <a:srgbClr val="CCDDFF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gWhite"/>
          <p:cNvSpPr>
            <a:spLocks noTextEdit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BottomBar"/>
          <p:cNvSpPr>
            <a:spLocks noTextEdit="1"/>
          </p:cNvSpPr>
          <p:nvPr/>
        </p:nvSpPr>
        <p:spPr>
          <a:xfrm>
            <a:off x="493140" y="5098586"/>
            <a:ext cx="11290860" cy="1258827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Title"/>
          <p:cNvSpPr txBox="1"/>
          <p:nvPr/>
        </p:nvSpPr>
        <p:spPr>
          <a:xfrm>
            <a:off x="581192" y="5264487"/>
            <a:ext cx="11029616" cy="71887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Autofit/>
          </a:bodyPr>
          <a:lstStyle/>
          <a:p>
            <a:pPr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SKILLS &amp; COMPETENCIES</a:t>
            </a:r>
          </a:p>
        </p:txBody>
      </p:sp>
      <p:sp>
        <p:nvSpPr>
          <p:cNvPr id="13" name="SHeader"/>
          <p:cNvSpPr txBox="1"/>
          <p:nvPr/>
        </p:nvSpPr>
        <p:spPr>
          <a:xfrm>
            <a:off x="644000" y="525000"/>
            <a:ext cx="10906000" cy="36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Autofit/>
          </a:bodyPr>
          <a:lstStyle/>
          <a:p>
            <a:pPr algn="l">
              <a:buNone/>
            </a:pPr>
            <a:r>
              <a:rPr lang="en-US" sz="2800" i="1" dirty="0">
                <a:solidFill>
                  <a:srgbClr val="555555"/>
                </a:solidFill>
              </a:rPr>
              <a:t>Technical proficiencies built through real project work across AI, NLP, robotics, and security.</a:t>
            </a:r>
          </a:p>
        </p:txBody>
      </p:sp>
      <p:sp>
        <p:nvSpPr>
          <p:cNvPr id="20" name="CHBg0"/>
          <p:cNvSpPr>
            <a:spLocks noTextEdit="1"/>
          </p:cNvSpPr>
          <p:nvPr/>
        </p:nvSpPr>
        <p:spPr>
          <a:xfrm>
            <a:off x="644000" y="1130000"/>
            <a:ext cx="3600000" cy="260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CHTitle0"/>
          <p:cNvSpPr txBox="1"/>
          <p:nvPr/>
        </p:nvSpPr>
        <p:spPr>
          <a:xfrm>
            <a:off x="704000" y="1130000"/>
            <a:ext cx="3480000" cy="26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Autofit/>
          </a:bodyPr>
          <a:lstStyle/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CORE LANGUAGES</a:t>
            </a:r>
          </a:p>
        </p:txBody>
      </p:sp>
      <p:sp>
        <p:nvSpPr>
          <p:cNvPr id="22" name="SN0_0"/>
          <p:cNvSpPr txBox="1"/>
          <p:nvPr/>
        </p:nvSpPr>
        <p:spPr>
          <a:xfrm>
            <a:off x="704000" y="1520000"/>
            <a:ext cx="3480000" cy="24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b">
            <a:noAutofit/>
          </a:bodyPr>
          <a:lstStyle/>
          <a:p>
            <a:pPr algn="l">
              <a:buNone/>
            </a:pPr>
            <a:r>
              <a:rPr lang="en-US" sz="1000" dirty="0">
                <a:solidFill>
                  <a:srgbClr val="1A1A1A"/>
                </a:solidFill>
              </a:rPr>
              <a:t>Python</a:t>
            </a:r>
          </a:p>
        </p:txBody>
      </p:sp>
      <p:sp>
        <p:nvSpPr>
          <p:cNvPr id="23" name="SBG0_0"/>
          <p:cNvSpPr>
            <a:spLocks noTextEdit="1"/>
          </p:cNvSpPr>
          <p:nvPr/>
        </p:nvSpPr>
        <p:spPr>
          <a:xfrm>
            <a:off x="704000" y="1770000"/>
            <a:ext cx="3480000" cy="120000"/>
          </a:xfrm>
          <a:prstGeom prst="rect">
            <a:avLst/>
          </a:prstGeom>
          <a:solidFill>
            <a:srgbClr val="D0D8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SFG0_0"/>
          <p:cNvSpPr>
            <a:spLocks noTextEdit="1"/>
          </p:cNvSpPr>
          <p:nvPr/>
        </p:nvSpPr>
        <p:spPr>
          <a:xfrm>
            <a:off x="704000" y="1770000"/>
            <a:ext cx="3306000" cy="120000"/>
          </a:xfrm>
          <a:prstGeom prst="rect">
            <a:avLst/>
          </a:prstGeom>
          <a:solidFill>
            <a:srgbClr val="1A3A7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" name="SN0_1"/>
          <p:cNvSpPr txBox="1"/>
          <p:nvPr/>
        </p:nvSpPr>
        <p:spPr>
          <a:xfrm>
            <a:off x="704000" y="2140000"/>
            <a:ext cx="3480000" cy="24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b">
            <a:noAutofit/>
          </a:bodyPr>
          <a:lstStyle/>
          <a:p>
            <a:pPr algn="l">
              <a:buNone/>
            </a:pPr>
            <a:r>
              <a:rPr lang="en-US" sz="1000" dirty="0">
                <a:solidFill>
                  <a:srgbClr val="1A1A1A"/>
                </a:solidFill>
              </a:rPr>
              <a:t>C++</a:t>
            </a:r>
          </a:p>
        </p:txBody>
      </p:sp>
      <p:sp>
        <p:nvSpPr>
          <p:cNvPr id="28" name="SBG0_1"/>
          <p:cNvSpPr>
            <a:spLocks noTextEdit="1"/>
          </p:cNvSpPr>
          <p:nvPr/>
        </p:nvSpPr>
        <p:spPr>
          <a:xfrm>
            <a:off x="704000" y="2390000"/>
            <a:ext cx="3480000" cy="120000"/>
          </a:xfrm>
          <a:prstGeom prst="rect">
            <a:avLst/>
          </a:prstGeom>
          <a:solidFill>
            <a:srgbClr val="D0D8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9" name="SFG0_1"/>
          <p:cNvSpPr>
            <a:spLocks noTextEdit="1"/>
          </p:cNvSpPr>
          <p:nvPr/>
        </p:nvSpPr>
        <p:spPr>
          <a:xfrm>
            <a:off x="704000" y="2390000"/>
            <a:ext cx="2436000" cy="120000"/>
          </a:xfrm>
          <a:prstGeom prst="rect">
            <a:avLst/>
          </a:prstGeom>
          <a:solidFill>
            <a:srgbClr val="1A3A7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2" name="SN0_2"/>
          <p:cNvSpPr txBox="1"/>
          <p:nvPr/>
        </p:nvSpPr>
        <p:spPr>
          <a:xfrm>
            <a:off x="704000" y="2730857"/>
            <a:ext cx="3480000" cy="24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b">
            <a:noAutofit/>
          </a:bodyPr>
          <a:lstStyle/>
          <a:p>
            <a:pPr algn="l">
              <a:buNone/>
            </a:pPr>
            <a:r>
              <a:rPr lang="en-US" sz="1000" dirty="0">
                <a:solidFill>
                  <a:srgbClr val="1A1A1A"/>
                </a:solidFill>
              </a:rPr>
              <a:t>ROS 2</a:t>
            </a:r>
          </a:p>
        </p:txBody>
      </p:sp>
      <p:sp>
        <p:nvSpPr>
          <p:cNvPr id="33" name="SBG0_2"/>
          <p:cNvSpPr>
            <a:spLocks noTextEdit="1"/>
          </p:cNvSpPr>
          <p:nvPr/>
        </p:nvSpPr>
        <p:spPr>
          <a:xfrm>
            <a:off x="704000" y="3010000"/>
            <a:ext cx="3480000" cy="120000"/>
          </a:xfrm>
          <a:prstGeom prst="rect">
            <a:avLst/>
          </a:prstGeom>
          <a:solidFill>
            <a:srgbClr val="D0D8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SFG0_2"/>
          <p:cNvSpPr>
            <a:spLocks noTextEdit="1"/>
          </p:cNvSpPr>
          <p:nvPr/>
        </p:nvSpPr>
        <p:spPr>
          <a:xfrm>
            <a:off x="704000" y="3010000"/>
            <a:ext cx="2784000" cy="120000"/>
          </a:xfrm>
          <a:prstGeom prst="rect">
            <a:avLst/>
          </a:prstGeom>
          <a:solidFill>
            <a:srgbClr val="1A3A7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5" name="SPct0_2"/>
          <p:cNvSpPr txBox="1"/>
          <p:nvPr/>
        </p:nvSpPr>
        <p:spPr>
          <a:xfrm>
            <a:off x="4024000" y="2760000"/>
            <a:ext cx="280000" cy="24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b">
            <a:noAutofit/>
          </a:bodyPr>
          <a:lstStyle/>
          <a:p>
            <a:pPr algn="r">
              <a:buNone/>
            </a:pPr>
            <a:endParaRPr lang="en-US" sz="1000" b="1" dirty="0">
              <a:solidFill>
                <a:srgbClr val="1A3A7C"/>
              </a:solidFill>
            </a:endParaRPr>
          </a:p>
        </p:txBody>
      </p:sp>
      <p:sp>
        <p:nvSpPr>
          <p:cNvPr id="37" name="SN0_3"/>
          <p:cNvSpPr txBox="1"/>
          <p:nvPr/>
        </p:nvSpPr>
        <p:spPr>
          <a:xfrm>
            <a:off x="704000" y="3380000"/>
            <a:ext cx="3480000" cy="24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b">
            <a:noAutofit/>
          </a:bodyPr>
          <a:lstStyle/>
          <a:p>
            <a:pPr algn="l">
              <a:buNone/>
            </a:pPr>
            <a:r>
              <a:rPr lang="en-US" sz="1000" dirty="0">
                <a:solidFill>
                  <a:srgbClr val="1A1A1A"/>
                </a:solidFill>
              </a:rPr>
              <a:t>AVR Assembly</a:t>
            </a:r>
          </a:p>
        </p:txBody>
      </p:sp>
      <p:sp>
        <p:nvSpPr>
          <p:cNvPr id="38" name="SBG0_3"/>
          <p:cNvSpPr>
            <a:spLocks noTextEdit="1"/>
          </p:cNvSpPr>
          <p:nvPr/>
        </p:nvSpPr>
        <p:spPr>
          <a:xfrm>
            <a:off x="704000" y="3630000"/>
            <a:ext cx="3480000" cy="120000"/>
          </a:xfrm>
          <a:prstGeom prst="rect">
            <a:avLst/>
          </a:prstGeom>
          <a:solidFill>
            <a:srgbClr val="D0D8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9" name="SFG0_3"/>
          <p:cNvSpPr>
            <a:spLocks noTextEdit="1"/>
          </p:cNvSpPr>
          <p:nvPr/>
        </p:nvSpPr>
        <p:spPr>
          <a:xfrm>
            <a:off x="704000" y="3630000"/>
            <a:ext cx="1914000" cy="120000"/>
          </a:xfrm>
          <a:prstGeom prst="rect">
            <a:avLst/>
          </a:prstGeom>
          <a:solidFill>
            <a:srgbClr val="1A3A7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" name="SN0_4"/>
          <p:cNvSpPr txBox="1"/>
          <p:nvPr/>
        </p:nvSpPr>
        <p:spPr>
          <a:xfrm>
            <a:off x="704000" y="4000000"/>
            <a:ext cx="3480000" cy="24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b">
            <a:noAutofit/>
          </a:bodyPr>
          <a:lstStyle/>
          <a:p>
            <a:pPr algn="l">
              <a:buNone/>
            </a:pPr>
            <a:r>
              <a:rPr lang="en-US" sz="1000" dirty="0">
                <a:solidFill>
                  <a:srgbClr val="1A1A1A"/>
                </a:solidFill>
              </a:rPr>
              <a:t>SQL / NoSQL</a:t>
            </a:r>
          </a:p>
        </p:txBody>
      </p:sp>
      <p:sp>
        <p:nvSpPr>
          <p:cNvPr id="43" name="SBG0_4"/>
          <p:cNvSpPr>
            <a:spLocks noTextEdit="1"/>
          </p:cNvSpPr>
          <p:nvPr/>
        </p:nvSpPr>
        <p:spPr>
          <a:xfrm>
            <a:off x="704000" y="4250000"/>
            <a:ext cx="3480000" cy="120000"/>
          </a:xfrm>
          <a:prstGeom prst="rect">
            <a:avLst/>
          </a:prstGeom>
          <a:solidFill>
            <a:srgbClr val="D0D8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4" name="SFG0_4"/>
          <p:cNvSpPr>
            <a:spLocks noTextEdit="1"/>
          </p:cNvSpPr>
          <p:nvPr/>
        </p:nvSpPr>
        <p:spPr>
          <a:xfrm>
            <a:off x="704000" y="4250000"/>
            <a:ext cx="2262000" cy="120000"/>
          </a:xfrm>
          <a:prstGeom prst="rect">
            <a:avLst/>
          </a:prstGeom>
          <a:solidFill>
            <a:srgbClr val="1A3A7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" name="CHBg1"/>
          <p:cNvSpPr>
            <a:spLocks noTextEdit="1"/>
          </p:cNvSpPr>
          <p:nvPr/>
        </p:nvSpPr>
        <p:spPr>
          <a:xfrm>
            <a:off x="4444000" y="1130000"/>
            <a:ext cx="3600000" cy="260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" name="CHTitle1"/>
          <p:cNvSpPr txBox="1"/>
          <p:nvPr/>
        </p:nvSpPr>
        <p:spPr>
          <a:xfrm>
            <a:off x="4504000" y="1130000"/>
            <a:ext cx="3480000" cy="26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Autofit/>
          </a:bodyPr>
          <a:lstStyle/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AI / ML STACK</a:t>
            </a:r>
          </a:p>
        </p:txBody>
      </p:sp>
      <p:sp>
        <p:nvSpPr>
          <p:cNvPr id="52" name="SN1_0"/>
          <p:cNvSpPr txBox="1"/>
          <p:nvPr/>
        </p:nvSpPr>
        <p:spPr>
          <a:xfrm>
            <a:off x="4504000" y="1520000"/>
            <a:ext cx="3480000" cy="24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b">
            <a:noAutofit/>
          </a:bodyPr>
          <a:lstStyle/>
          <a:p>
            <a:pPr algn="l">
              <a:buNone/>
            </a:pPr>
            <a:r>
              <a:rPr lang="en-US" sz="1000" dirty="0">
                <a:solidFill>
                  <a:srgbClr val="1A1A1A"/>
                </a:solidFill>
              </a:rPr>
              <a:t>NLP (spaCy/NLTK)</a:t>
            </a:r>
          </a:p>
        </p:txBody>
      </p:sp>
      <p:sp>
        <p:nvSpPr>
          <p:cNvPr id="53" name="SBG1_0"/>
          <p:cNvSpPr>
            <a:spLocks noTextEdit="1"/>
          </p:cNvSpPr>
          <p:nvPr/>
        </p:nvSpPr>
        <p:spPr>
          <a:xfrm>
            <a:off x="4504000" y="1770000"/>
            <a:ext cx="3480000" cy="120000"/>
          </a:xfrm>
          <a:prstGeom prst="rect">
            <a:avLst/>
          </a:prstGeom>
          <a:solidFill>
            <a:srgbClr val="D0D8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4" name="SFG1_0"/>
          <p:cNvSpPr>
            <a:spLocks noTextEdit="1"/>
          </p:cNvSpPr>
          <p:nvPr/>
        </p:nvSpPr>
        <p:spPr>
          <a:xfrm>
            <a:off x="4504000" y="1770000"/>
            <a:ext cx="3132000" cy="120000"/>
          </a:xfrm>
          <a:prstGeom prst="rect">
            <a:avLst/>
          </a:prstGeom>
          <a:solidFill>
            <a:srgbClr val="1A609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5" name="SPct1_0"/>
          <p:cNvSpPr txBox="1"/>
          <p:nvPr/>
        </p:nvSpPr>
        <p:spPr>
          <a:xfrm>
            <a:off x="7824000" y="1520000"/>
            <a:ext cx="280000" cy="24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b">
            <a:noAutofit/>
          </a:bodyPr>
          <a:lstStyle/>
          <a:p>
            <a:pPr algn="r">
              <a:buNone/>
            </a:pPr>
            <a:r>
              <a:rPr lang="en-US" sz="1000" b="1" dirty="0">
                <a:solidFill>
                  <a:srgbClr val="1A6090"/>
                </a:solidFill>
              </a:rPr>
              <a:t>90%</a:t>
            </a:r>
          </a:p>
        </p:txBody>
      </p:sp>
      <p:sp>
        <p:nvSpPr>
          <p:cNvPr id="57" name="SN1_1"/>
          <p:cNvSpPr txBox="1"/>
          <p:nvPr/>
        </p:nvSpPr>
        <p:spPr>
          <a:xfrm>
            <a:off x="4504000" y="2140000"/>
            <a:ext cx="3480000" cy="24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b">
            <a:noAutofit/>
          </a:bodyPr>
          <a:lstStyle/>
          <a:p>
            <a:pPr algn="l">
              <a:buNone/>
            </a:pPr>
            <a:r>
              <a:rPr lang="en-US" sz="1000" dirty="0">
                <a:solidFill>
                  <a:srgbClr val="1A1A1A"/>
                </a:solidFill>
              </a:rPr>
              <a:t>Computer Vision</a:t>
            </a:r>
          </a:p>
        </p:txBody>
      </p:sp>
      <p:sp>
        <p:nvSpPr>
          <p:cNvPr id="58" name="SBG1_1"/>
          <p:cNvSpPr>
            <a:spLocks noTextEdit="1"/>
          </p:cNvSpPr>
          <p:nvPr/>
        </p:nvSpPr>
        <p:spPr>
          <a:xfrm>
            <a:off x="4504000" y="2390000"/>
            <a:ext cx="3480000" cy="120000"/>
          </a:xfrm>
          <a:prstGeom prst="rect">
            <a:avLst/>
          </a:prstGeom>
          <a:solidFill>
            <a:srgbClr val="D0D8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9" name="SFG1_1"/>
          <p:cNvSpPr>
            <a:spLocks noTextEdit="1"/>
          </p:cNvSpPr>
          <p:nvPr/>
        </p:nvSpPr>
        <p:spPr>
          <a:xfrm>
            <a:off x="4504000" y="2390000"/>
            <a:ext cx="2784000" cy="120000"/>
          </a:xfrm>
          <a:prstGeom prst="rect">
            <a:avLst/>
          </a:prstGeom>
          <a:solidFill>
            <a:srgbClr val="1A609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SPct1_1"/>
          <p:cNvSpPr txBox="1"/>
          <p:nvPr/>
        </p:nvSpPr>
        <p:spPr>
          <a:xfrm>
            <a:off x="7824000" y="2140000"/>
            <a:ext cx="280000" cy="24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b">
            <a:noAutofit/>
          </a:bodyPr>
          <a:lstStyle/>
          <a:p>
            <a:pPr algn="r">
              <a:buNone/>
            </a:pPr>
            <a:r>
              <a:rPr lang="en-US" sz="1000" b="1" dirty="0">
                <a:solidFill>
                  <a:srgbClr val="1A6090"/>
                </a:solidFill>
              </a:rPr>
              <a:t>80%</a:t>
            </a:r>
          </a:p>
        </p:txBody>
      </p:sp>
      <p:sp>
        <p:nvSpPr>
          <p:cNvPr id="62" name="SN1_2"/>
          <p:cNvSpPr txBox="1"/>
          <p:nvPr/>
        </p:nvSpPr>
        <p:spPr>
          <a:xfrm>
            <a:off x="4504000" y="2760000"/>
            <a:ext cx="3480000" cy="24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b">
            <a:noAutofit/>
          </a:bodyPr>
          <a:lstStyle/>
          <a:p>
            <a:pPr algn="l">
              <a:buNone/>
            </a:pPr>
            <a:r>
              <a:rPr lang="en-US" sz="1000" dirty="0">
                <a:solidFill>
                  <a:srgbClr val="1A1A1A"/>
                </a:solidFill>
              </a:rPr>
              <a:t>RAG Pipelines</a:t>
            </a:r>
          </a:p>
        </p:txBody>
      </p:sp>
      <p:sp>
        <p:nvSpPr>
          <p:cNvPr id="63" name="SBG1_2"/>
          <p:cNvSpPr>
            <a:spLocks noTextEdit="1"/>
          </p:cNvSpPr>
          <p:nvPr/>
        </p:nvSpPr>
        <p:spPr>
          <a:xfrm>
            <a:off x="4504000" y="3010000"/>
            <a:ext cx="3480000" cy="120000"/>
          </a:xfrm>
          <a:prstGeom prst="rect">
            <a:avLst/>
          </a:prstGeom>
          <a:solidFill>
            <a:srgbClr val="D0D8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4" name="SFG1_2"/>
          <p:cNvSpPr>
            <a:spLocks noTextEdit="1"/>
          </p:cNvSpPr>
          <p:nvPr/>
        </p:nvSpPr>
        <p:spPr>
          <a:xfrm>
            <a:off x="4504000" y="3010000"/>
            <a:ext cx="3062400" cy="120000"/>
          </a:xfrm>
          <a:prstGeom prst="rect">
            <a:avLst/>
          </a:prstGeom>
          <a:solidFill>
            <a:srgbClr val="1A609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5" name="SPct1_2"/>
          <p:cNvSpPr txBox="1"/>
          <p:nvPr/>
        </p:nvSpPr>
        <p:spPr>
          <a:xfrm>
            <a:off x="7824000" y="2760000"/>
            <a:ext cx="280000" cy="24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b">
            <a:noAutofit/>
          </a:bodyPr>
          <a:lstStyle/>
          <a:p>
            <a:pPr algn="r">
              <a:buNone/>
            </a:pPr>
            <a:r>
              <a:rPr lang="en-US" sz="1000" b="1" dirty="0">
                <a:solidFill>
                  <a:srgbClr val="1A6090"/>
                </a:solidFill>
              </a:rPr>
              <a:t>88%</a:t>
            </a:r>
          </a:p>
        </p:txBody>
      </p:sp>
      <p:sp>
        <p:nvSpPr>
          <p:cNvPr id="67" name="SN1_3"/>
          <p:cNvSpPr txBox="1"/>
          <p:nvPr/>
        </p:nvSpPr>
        <p:spPr>
          <a:xfrm>
            <a:off x="4504000" y="3380000"/>
            <a:ext cx="3480000" cy="24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b">
            <a:noAutofit/>
          </a:bodyPr>
          <a:lstStyle/>
          <a:p>
            <a:pPr algn="l">
              <a:buNone/>
            </a:pPr>
            <a:r>
              <a:rPr lang="en-US" sz="1000" dirty="0">
                <a:solidFill>
                  <a:srgbClr val="1A1A1A"/>
                </a:solidFill>
              </a:rPr>
              <a:t>LLM Integration</a:t>
            </a:r>
          </a:p>
        </p:txBody>
      </p:sp>
      <p:sp>
        <p:nvSpPr>
          <p:cNvPr id="68" name="SBG1_3"/>
          <p:cNvSpPr>
            <a:spLocks noTextEdit="1"/>
          </p:cNvSpPr>
          <p:nvPr/>
        </p:nvSpPr>
        <p:spPr>
          <a:xfrm>
            <a:off x="4504000" y="3630000"/>
            <a:ext cx="3480000" cy="120000"/>
          </a:xfrm>
          <a:prstGeom prst="rect">
            <a:avLst/>
          </a:prstGeom>
          <a:solidFill>
            <a:srgbClr val="D0D8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SFG1_3"/>
          <p:cNvSpPr>
            <a:spLocks noTextEdit="1"/>
          </p:cNvSpPr>
          <p:nvPr/>
        </p:nvSpPr>
        <p:spPr>
          <a:xfrm>
            <a:off x="4504000" y="3630000"/>
            <a:ext cx="2784000" cy="120000"/>
          </a:xfrm>
          <a:prstGeom prst="rect">
            <a:avLst/>
          </a:prstGeom>
          <a:solidFill>
            <a:srgbClr val="1A609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" name="SPct1_3"/>
          <p:cNvSpPr txBox="1"/>
          <p:nvPr/>
        </p:nvSpPr>
        <p:spPr>
          <a:xfrm>
            <a:off x="7824000" y="3380000"/>
            <a:ext cx="280000" cy="24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b">
            <a:noAutofit/>
          </a:bodyPr>
          <a:lstStyle/>
          <a:p>
            <a:pPr algn="r">
              <a:buNone/>
            </a:pPr>
            <a:r>
              <a:rPr lang="en-US" sz="1000" b="1" dirty="0">
                <a:solidFill>
                  <a:srgbClr val="1A6090"/>
                </a:solidFill>
              </a:rPr>
              <a:t>80%</a:t>
            </a:r>
          </a:p>
        </p:txBody>
      </p:sp>
      <p:sp>
        <p:nvSpPr>
          <p:cNvPr id="72" name="SN1_4"/>
          <p:cNvSpPr txBox="1"/>
          <p:nvPr/>
        </p:nvSpPr>
        <p:spPr>
          <a:xfrm>
            <a:off x="4504000" y="4000000"/>
            <a:ext cx="3480000" cy="24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b">
            <a:noAutofit/>
          </a:bodyPr>
          <a:lstStyle/>
          <a:p>
            <a:pPr algn="l">
              <a:buNone/>
            </a:pPr>
            <a:r>
              <a:rPr lang="en-US" sz="1000" dirty="0">
                <a:solidFill>
                  <a:srgbClr val="1A1A1A"/>
                </a:solidFill>
              </a:rPr>
              <a:t>Cloud (AWS/Azure)</a:t>
            </a:r>
          </a:p>
        </p:txBody>
      </p:sp>
      <p:sp>
        <p:nvSpPr>
          <p:cNvPr id="73" name="SBG1_4"/>
          <p:cNvSpPr>
            <a:spLocks noTextEdit="1"/>
          </p:cNvSpPr>
          <p:nvPr/>
        </p:nvSpPr>
        <p:spPr>
          <a:xfrm>
            <a:off x="4504000" y="4250000"/>
            <a:ext cx="3480000" cy="120000"/>
          </a:xfrm>
          <a:prstGeom prst="rect">
            <a:avLst/>
          </a:prstGeom>
          <a:solidFill>
            <a:srgbClr val="D0D8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4" name="SFG1_4"/>
          <p:cNvSpPr>
            <a:spLocks noTextEdit="1"/>
          </p:cNvSpPr>
          <p:nvPr/>
        </p:nvSpPr>
        <p:spPr>
          <a:xfrm>
            <a:off x="4504000" y="4250000"/>
            <a:ext cx="2505600" cy="120000"/>
          </a:xfrm>
          <a:prstGeom prst="rect">
            <a:avLst/>
          </a:prstGeom>
          <a:solidFill>
            <a:srgbClr val="1A609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5" name="SPct1_4"/>
          <p:cNvSpPr txBox="1"/>
          <p:nvPr/>
        </p:nvSpPr>
        <p:spPr>
          <a:xfrm>
            <a:off x="7824000" y="4000000"/>
            <a:ext cx="280000" cy="24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b">
            <a:noAutofit/>
          </a:bodyPr>
          <a:lstStyle/>
          <a:p>
            <a:pPr algn="r">
              <a:buNone/>
            </a:pPr>
            <a:r>
              <a:rPr lang="en-US" sz="1000" b="1" dirty="0">
                <a:solidFill>
                  <a:srgbClr val="1A6090"/>
                </a:solidFill>
              </a:rPr>
              <a:t>72%</a:t>
            </a:r>
          </a:p>
        </p:txBody>
      </p:sp>
      <p:sp>
        <p:nvSpPr>
          <p:cNvPr id="80" name="CHBg2"/>
          <p:cNvSpPr>
            <a:spLocks noTextEdit="1"/>
          </p:cNvSpPr>
          <p:nvPr/>
        </p:nvSpPr>
        <p:spPr>
          <a:xfrm>
            <a:off x="8244000" y="1130000"/>
            <a:ext cx="3600000" cy="260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1" name="CHTitle2"/>
          <p:cNvSpPr txBox="1"/>
          <p:nvPr/>
        </p:nvSpPr>
        <p:spPr>
          <a:xfrm>
            <a:off x="8304000" y="1130000"/>
            <a:ext cx="3480000" cy="26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Autofit/>
          </a:bodyPr>
          <a:lstStyle/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COMPETENCIES</a:t>
            </a:r>
          </a:p>
        </p:txBody>
      </p:sp>
      <p:sp>
        <p:nvSpPr>
          <p:cNvPr id="82" name="Chip0"/>
          <p:cNvSpPr>
            <a:spLocks noTextEdit="1"/>
          </p:cNvSpPr>
          <p:nvPr/>
        </p:nvSpPr>
        <p:spPr>
          <a:xfrm>
            <a:off x="8304000" y="1520000"/>
            <a:ext cx="3480000" cy="330000"/>
          </a:xfrm>
          <a:prstGeom prst="rect">
            <a:avLst/>
          </a:prstGeom>
          <a:solidFill>
            <a:srgbClr val="E8F4ED"/>
          </a:solidFill>
          <a:ln w="9525">
            <a:solidFill>
              <a:srgbClr val="0D5C3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3" name="ChipT0"/>
          <p:cNvSpPr txBox="1"/>
          <p:nvPr/>
        </p:nvSpPr>
        <p:spPr>
          <a:xfrm>
            <a:off x="8304000" y="1520000"/>
            <a:ext cx="3480000" cy="33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Autofit/>
          </a:bodyPr>
          <a:lstStyle/>
          <a:p>
            <a:pPr algn="l">
              <a:buNone/>
            </a:pPr>
            <a:r>
              <a:rPr lang="en-US" sz="2800" dirty="0">
                <a:solidFill>
                  <a:srgbClr val="0D3322"/>
                </a:solidFill>
              </a:rPr>
              <a:t>✓  Systems Thinking</a:t>
            </a:r>
          </a:p>
        </p:txBody>
      </p:sp>
      <p:sp>
        <p:nvSpPr>
          <p:cNvPr id="85" name="Chip1"/>
          <p:cNvSpPr>
            <a:spLocks noTextEdit="1"/>
          </p:cNvSpPr>
          <p:nvPr/>
        </p:nvSpPr>
        <p:spPr>
          <a:xfrm>
            <a:off x="8304000" y="2050000"/>
            <a:ext cx="3480000" cy="330000"/>
          </a:xfrm>
          <a:prstGeom prst="rect">
            <a:avLst/>
          </a:prstGeom>
          <a:solidFill>
            <a:srgbClr val="E8F4ED"/>
          </a:solidFill>
          <a:ln w="9525">
            <a:solidFill>
              <a:srgbClr val="0D5C3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6" name="ChipT1"/>
          <p:cNvSpPr txBox="1"/>
          <p:nvPr/>
        </p:nvSpPr>
        <p:spPr>
          <a:xfrm>
            <a:off x="8304000" y="2050000"/>
            <a:ext cx="3480000" cy="33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Autofit/>
          </a:bodyPr>
          <a:lstStyle/>
          <a:p>
            <a:pPr algn="l">
              <a:buNone/>
            </a:pPr>
            <a:r>
              <a:rPr lang="en-US" sz="2800" dirty="0">
                <a:solidFill>
                  <a:srgbClr val="0D3322"/>
                </a:solidFill>
              </a:rPr>
              <a:t>✓  Research Synthesis</a:t>
            </a:r>
          </a:p>
        </p:txBody>
      </p:sp>
      <p:sp>
        <p:nvSpPr>
          <p:cNvPr id="88" name="Chip2"/>
          <p:cNvSpPr>
            <a:spLocks noTextEdit="1"/>
          </p:cNvSpPr>
          <p:nvPr/>
        </p:nvSpPr>
        <p:spPr>
          <a:xfrm>
            <a:off x="8304000" y="2580000"/>
            <a:ext cx="3480000" cy="330000"/>
          </a:xfrm>
          <a:prstGeom prst="rect">
            <a:avLst/>
          </a:prstGeom>
          <a:solidFill>
            <a:srgbClr val="E8F4ED"/>
          </a:solidFill>
          <a:ln w="9525">
            <a:solidFill>
              <a:srgbClr val="0D5C3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9" name="ChipT2"/>
          <p:cNvSpPr txBox="1"/>
          <p:nvPr/>
        </p:nvSpPr>
        <p:spPr>
          <a:xfrm>
            <a:off x="8304000" y="2580000"/>
            <a:ext cx="3480000" cy="33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Autofit/>
          </a:bodyPr>
          <a:lstStyle/>
          <a:p>
            <a:pPr algn="l">
              <a:buNone/>
            </a:pPr>
            <a:r>
              <a:rPr lang="en-US" sz="2800" dirty="0">
                <a:solidFill>
                  <a:srgbClr val="0D3322"/>
                </a:solidFill>
              </a:rPr>
              <a:t>✓  Technical Writing</a:t>
            </a:r>
          </a:p>
        </p:txBody>
      </p:sp>
      <p:sp>
        <p:nvSpPr>
          <p:cNvPr id="91" name="Chip3"/>
          <p:cNvSpPr>
            <a:spLocks noTextEdit="1"/>
          </p:cNvSpPr>
          <p:nvPr/>
        </p:nvSpPr>
        <p:spPr>
          <a:xfrm>
            <a:off x="8304000" y="3110000"/>
            <a:ext cx="3480000" cy="330000"/>
          </a:xfrm>
          <a:prstGeom prst="rect">
            <a:avLst/>
          </a:prstGeom>
          <a:solidFill>
            <a:srgbClr val="E8F4ED"/>
          </a:solidFill>
          <a:ln w="9525">
            <a:solidFill>
              <a:srgbClr val="0D5C3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2" name="ChipT3"/>
          <p:cNvSpPr txBox="1"/>
          <p:nvPr/>
        </p:nvSpPr>
        <p:spPr>
          <a:xfrm>
            <a:off x="8304000" y="3110000"/>
            <a:ext cx="3480000" cy="33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rmAutofit fontScale="85000" lnSpcReduction="20000"/>
          </a:bodyPr>
          <a:lstStyle/>
          <a:p>
            <a:pPr algn="l">
              <a:buNone/>
            </a:pPr>
            <a:r>
              <a:rPr lang="en-US" sz="1400" dirty="0">
                <a:solidFill>
                  <a:srgbClr val="0D3322"/>
                </a:solidFill>
              </a:rPr>
              <a:t>✓  Cross-domain Analysis</a:t>
            </a:r>
          </a:p>
        </p:txBody>
      </p:sp>
      <p:sp>
        <p:nvSpPr>
          <p:cNvPr id="94" name="Chip4"/>
          <p:cNvSpPr>
            <a:spLocks noTextEdit="1"/>
          </p:cNvSpPr>
          <p:nvPr/>
        </p:nvSpPr>
        <p:spPr>
          <a:xfrm>
            <a:off x="8304000" y="3640000"/>
            <a:ext cx="3480000" cy="330000"/>
          </a:xfrm>
          <a:prstGeom prst="rect">
            <a:avLst/>
          </a:prstGeom>
          <a:solidFill>
            <a:srgbClr val="E8F4ED"/>
          </a:solidFill>
          <a:ln w="9525">
            <a:solidFill>
              <a:srgbClr val="0D5C3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5" name="ChipT4"/>
          <p:cNvSpPr txBox="1"/>
          <p:nvPr/>
        </p:nvSpPr>
        <p:spPr>
          <a:xfrm>
            <a:off x="8304000" y="3640000"/>
            <a:ext cx="3480000" cy="33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Autofit/>
          </a:bodyPr>
          <a:lstStyle/>
          <a:p>
            <a:pPr algn="l">
              <a:buNone/>
            </a:pPr>
            <a:r>
              <a:rPr lang="en-US" sz="2800" dirty="0">
                <a:solidFill>
                  <a:srgbClr val="0D3322"/>
                </a:solidFill>
              </a:rPr>
              <a:t>✓  Rapid Prototyping</a:t>
            </a:r>
          </a:p>
        </p:txBody>
      </p:sp>
      <p:sp>
        <p:nvSpPr>
          <p:cNvPr id="97" name="Chip5"/>
          <p:cNvSpPr>
            <a:spLocks noTextEdit="1"/>
          </p:cNvSpPr>
          <p:nvPr/>
        </p:nvSpPr>
        <p:spPr>
          <a:xfrm>
            <a:off x="8304000" y="4170000"/>
            <a:ext cx="3480000" cy="330000"/>
          </a:xfrm>
          <a:prstGeom prst="rect">
            <a:avLst/>
          </a:prstGeom>
          <a:solidFill>
            <a:srgbClr val="E8F4ED"/>
          </a:solidFill>
          <a:ln w="9525">
            <a:solidFill>
              <a:srgbClr val="0D5C3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8" name="ChipT5"/>
          <p:cNvSpPr txBox="1"/>
          <p:nvPr/>
        </p:nvSpPr>
        <p:spPr>
          <a:xfrm>
            <a:off x="8304000" y="4170000"/>
            <a:ext cx="3480000" cy="33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ctr">
            <a:normAutofit fontScale="85000" lnSpcReduction="20000"/>
          </a:bodyPr>
          <a:lstStyle/>
          <a:p>
            <a:pPr algn="l">
              <a:buNone/>
            </a:pPr>
            <a:r>
              <a:rPr lang="en-US" sz="1400" dirty="0">
                <a:solidFill>
                  <a:srgbClr val="0D3322"/>
                </a:solidFill>
              </a:rPr>
              <a:t>✓  Security-first Design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Digital Numbers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0" y="0"/>
            <a:ext cx="7200000" cy="6858000"/>
          </a:xfrm>
          <a:prstGeom prst="rect">
            <a:avLst/>
          </a:prstGeom>
        </p:spPr>
      </p:pic>
      <p:sp>
        <p:nvSpPr>
          <p:cNvPr id="10" name="RightPanel"/>
          <p:cNvSpPr>
            <a:spLocks noTextEdit="1"/>
          </p:cNvSpPr>
          <p:nvPr/>
        </p:nvSpPr>
        <p:spPr>
          <a:xfrm>
            <a:off x="7200000" y="0"/>
            <a:ext cx="4992000" cy="6858000"/>
          </a:xfrm>
          <a:prstGeom prst="rect">
            <a:avLst/>
          </a:prstGeom>
          <a:solidFill>
            <a:srgbClr val="050F2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TopAccent"/>
          <p:cNvSpPr>
            <a:spLocks noTextEdit="1"/>
          </p:cNvSpPr>
          <p:nvPr/>
        </p:nvSpPr>
        <p:spPr>
          <a:xfrm>
            <a:off x="7200000" y="0"/>
            <a:ext cx="4992000" cy="120000"/>
          </a:xfrm>
          <a:prstGeom prst="rect">
            <a:avLst/>
          </a:prstGeom>
          <a:solidFill>
            <a:srgbClr val="7CEB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LBar1"/>
          <p:cNvSpPr>
            <a:spLocks noTextEdit="1"/>
          </p:cNvSpPr>
          <p:nvPr/>
        </p:nvSpPr>
        <p:spPr>
          <a:xfrm>
            <a:off x="446534" y="457200"/>
            <a:ext cx="2000000" cy="80000"/>
          </a:xfrm>
          <a:prstGeom prst="rect">
            <a:avLst/>
          </a:prstGeom>
          <a:solidFill>
            <a:srgbClr val="1A3A7C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LBar2"/>
          <p:cNvSpPr>
            <a:spLocks noTextEdit="1"/>
          </p:cNvSpPr>
          <p:nvPr/>
        </p:nvSpPr>
        <p:spPr>
          <a:xfrm>
            <a:off x="2546534" y="457200"/>
            <a:ext cx="2000000" cy="80000"/>
          </a:xfrm>
          <a:prstGeom prst="rect">
            <a:avLst/>
          </a:prstGeom>
          <a:solidFill>
            <a:srgbClr val="7CEB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LBar3"/>
          <p:cNvSpPr>
            <a:spLocks noTextEdit="1"/>
          </p:cNvSpPr>
          <p:nvPr/>
        </p:nvSpPr>
        <p:spPr>
          <a:xfrm>
            <a:off x="4646534" y="457200"/>
            <a:ext cx="2000000" cy="80000"/>
          </a:xfrm>
          <a:prstGeom prst="rect">
            <a:avLst/>
          </a:prstGeom>
          <a:solidFill>
            <a:srgbClr val="334477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Title"/>
          <p:cNvSpPr txBox="1"/>
          <p:nvPr/>
        </p:nvSpPr>
        <p:spPr>
          <a:xfrm>
            <a:off x="7380000" y="700000"/>
            <a:ext cx="4640000" cy="90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t">
            <a:normAutofit fontScale="85000" lnSpcReduction="20000"/>
          </a:bodyPr>
          <a:lstStyle/>
          <a:p>
            <a:pPr algn="l">
              <a:buNone/>
            </a:pPr>
            <a:r>
              <a:rPr lang="en-US" sz="3200" b="1" dirty="0">
                <a:solidFill>
                  <a:srgbClr val="FFFFFF"/>
                </a:solidFill>
              </a:rPr>
              <a:t>REFLECTION</a:t>
            </a:r>
          </a:p>
          <a:p>
            <a:pPr algn="l">
              <a:buNone/>
            </a:pPr>
            <a:r>
              <a:rPr lang="en-US" sz="3200" b="1" dirty="0">
                <a:solidFill>
                  <a:srgbClr val="7CEBFF"/>
                </a:solidFill>
              </a:rPr>
              <a:t>&amp; NEXT STEPS</a:t>
            </a:r>
          </a:p>
        </p:txBody>
      </p:sp>
      <p:sp>
        <p:nvSpPr>
          <p:cNvPr id="21" name="Divider"/>
          <p:cNvSpPr>
            <a:spLocks noTextEdit="1"/>
          </p:cNvSpPr>
          <p:nvPr/>
        </p:nvSpPr>
        <p:spPr>
          <a:xfrm>
            <a:off x="7380000" y="1720000"/>
            <a:ext cx="1800000" cy="60000"/>
          </a:xfrm>
          <a:prstGeom prst="rect">
            <a:avLst/>
          </a:prstGeom>
          <a:solidFill>
            <a:srgbClr val="7CEB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Reflection"/>
          <p:cNvSpPr txBox="1"/>
          <p:nvPr/>
        </p:nvSpPr>
        <p:spPr>
          <a:xfrm>
            <a:off x="7380000" y="1850000"/>
            <a:ext cx="4640000" cy="110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t">
            <a:norm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7CEBFF"/>
                </a:solidFill>
              </a:rPr>
              <a:t>REFLECTION</a:t>
            </a:r>
          </a:p>
          <a:p>
            <a:pPr algn="l">
              <a:buNone/>
            </a:pPr>
            <a:r>
              <a:rPr lang="en-US" sz="1250" dirty="0">
                <a:solidFill>
                  <a:srgbClr val="CCDDFF"/>
                </a:solidFill>
              </a:rPr>
              <a:t>Building these systems taught me that good AI isn’t just accurate — it’s secure, explainable, and engineered for real conditions, not just controlled datasets.</a:t>
            </a:r>
          </a:p>
        </p:txBody>
      </p:sp>
      <p:sp>
        <p:nvSpPr>
          <p:cNvPr id="23" name="Goals"/>
          <p:cNvSpPr txBox="1"/>
          <p:nvPr/>
        </p:nvSpPr>
        <p:spPr>
          <a:xfrm>
            <a:off x="7380000" y="3080000"/>
            <a:ext cx="4640000" cy="160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t">
            <a:norm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7CEBFF"/>
                </a:solidFill>
              </a:rPr>
              <a:t>NEXT STEPS</a:t>
            </a:r>
          </a:p>
          <a:p>
            <a:pPr algn="l">
              <a:buNone/>
            </a:pPr>
            <a:r>
              <a:rPr lang="en-US" sz="1200" dirty="0">
                <a:solidFill>
                  <a:srgbClr val="FFFFFF"/>
                </a:solidFill>
              </a:rPr>
              <a:t>▶  Production RAG deployment with monitoring and adversarial testing</a:t>
            </a:r>
          </a:p>
          <a:p>
            <a:pPr algn="l">
              <a:buNone/>
            </a:pPr>
            <a:r>
              <a:rPr lang="en-US" sz="1200" dirty="0">
                <a:solidFill>
                  <a:srgbClr val="FFFFFF"/>
                </a:solidFill>
              </a:rPr>
              <a:t>▶  SLAM-based autonomous navigation on my ROS 2 LIDAR robot</a:t>
            </a:r>
          </a:p>
          <a:p>
            <a:pPr algn="l">
              <a:buNone/>
            </a:pPr>
            <a:r>
              <a:rPr lang="en-US" sz="1200" dirty="0">
                <a:solidFill>
                  <a:srgbClr val="FFFFFF"/>
                </a:solidFill>
              </a:rPr>
              <a:t>▶  Multilingual NLP research with focus on African language corpora</a:t>
            </a:r>
          </a:p>
          <a:p>
            <a:pPr algn="l">
              <a:buNone/>
            </a:pPr>
            <a:r>
              <a:rPr lang="en-US" sz="1200" dirty="0">
                <a:solidFill>
                  <a:srgbClr val="FFFFFF"/>
                </a:solidFill>
              </a:rPr>
              <a:t>▶  Contributing to open-source robotics and AI security tooling</a:t>
            </a:r>
          </a:p>
        </p:txBody>
      </p:sp>
      <p:sp>
        <p:nvSpPr>
          <p:cNvPr id="24" name="ContactBg"/>
          <p:cNvSpPr>
            <a:spLocks noTextEdit="1"/>
          </p:cNvSpPr>
          <p:nvPr/>
        </p:nvSpPr>
        <p:spPr>
          <a:xfrm>
            <a:off x="7200000" y="5600000"/>
            <a:ext cx="4992000" cy="1258000"/>
          </a:xfrm>
          <a:prstGeom prst="rect">
            <a:avLst/>
          </a:prstGeom>
          <a:solidFill>
            <a:srgbClr val="0D2149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Contact"/>
          <p:cNvSpPr txBox="1"/>
          <p:nvPr/>
        </p:nvSpPr>
        <p:spPr>
          <a:xfrm>
            <a:off x="7380000" y="5680000"/>
            <a:ext cx="4640000" cy="1080000"/>
          </a:xfrm>
          <a:prstGeom prst="rect">
            <a:avLst/>
          </a:prstGeom>
          <a:noFill/>
          <a:ln>
            <a:noFill/>
          </a:ln>
        </p:spPr>
        <p:txBody>
          <a:bodyPr lIns="91440" tIns="91440" rIns="91440" bIns="91440" anchor="t">
            <a:normAutofit/>
          </a:bodyPr>
          <a:lstStyle/>
          <a:p>
            <a:pPr algn="l">
              <a:buNone/>
            </a:pPr>
            <a:r>
              <a:rPr lang="en-US" sz="1200" b="1" dirty="0">
                <a:solidFill>
                  <a:srgbClr val="7CEBFF"/>
                </a:solidFill>
              </a:rPr>
              <a:t>jemima.egwurube@email.com</a:t>
            </a:r>
          </a:p>
          <a:p>
            <a:pPr algn="l">
              <a:buNone/>
            </a:pPr>
            <a:r>
              <a:rPr lang="en-US" sz="1200" dirty="0">
                <a:solidFill>
                  <a:srgbClr val="AABBDD"/>
                </a:solidFill>
              </a:rPr>
              <a:t>linkedin.com/in/jemima-egwurube  ·  github.com/</a:t>
            </a:r>
            <a:r>
              <a:rPr lang="en-US" sz="1200" dirty="0" err="1">
                <a:solidFill>
                  <a:srgbClr val="AABBDD"/>
                </a:solidFill>
              </a:rPr>
              <a:t>jemimahh</a:t>
            </a:r>
            <a:endParaRPr lang="en-US" sz="1200" dirty="0">
              <a:solidFill>
                <a:srgbClr val="AABBDD"/>
              </a:solidFill>
            </a:endParaRPr>
          </a:p>
          <a:p>
            <a:pPr algn="l">
              <a:buNone/>
            </a:pPr>
            <a:r>
              <a:rPr lang="en-US" sz="1200" dirty="0">
                <a:solidFill>
                  <a:srgbClr val="AABBDD"/>
                </a:solidFill>
              </a:rPr>
              <a:t>Houston, TX  ·  Open to full-time AI/ML roles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56390039_win32_fixed.potx" id="{08D75CB0-AD9B-4834-8559-901094BB0ABE}" vid="{3B3EDB20-B381-4B6C-99AC-7C5CDA2B40F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792209EB-3212-4116-B574-D1F56C7C492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42D3C2F-55A5-48C0-9D5A-95C7FF0389D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791575F-4C21-47C4-8D13-EB9BE66B536F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Tech design</Template>
  <TotalTime>8</TotalTime>
  <Words>384</Words>
  <Application>Microsoft Office PowerPoint</Application>
  <PresentationFormat>Widescreen</PresentationFormat>
  <Paragraphs>86</Paragraphs>
  <Slides>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Calibri</vt:lpstr>
      <vt:lpstr>Gill Sans MT</vt:lpstr>
      <vt:lpstr>Wingdings 2</vt:lpstr>
      <vt:lpstr>Custom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jemima.egwurube-W212809892</dc:creator>
  <cp:lastModifiedBy>jemima.egwurube-W212809892</cp:lastModifiedBy>
  <cp:revision>2</cp:revision>
  <dcterms:created xsi:type="dcterms:W3CDTF">2026-05-04T02:19:22Z</dcterms:created>
  <dcterms:modified xsi:type="dcterms:W3CDTF">2026-05-04T02:45:22Z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