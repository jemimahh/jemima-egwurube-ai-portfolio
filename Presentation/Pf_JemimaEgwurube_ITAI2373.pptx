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1" r:id="rId6"/>
    <p:sldId id="262" r:id="rId7"/>
    <p:sldId id="258" r:id="rId8"/>
    <p:sldId id="264" r:id="rId9"/>
    <p:sldId id="265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59" d="100"/>
          <a:sy n="59" d="100"/>
        </p:scale>
        <p:origin x="8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mimahh/Jemima-Egwurube-AI-Portfolio/tree/master/Jemima-Egwurube-DeepLearning-ITAI237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mimahh/ITAI2373-NewsBot-Final" TargetMode="External"/><Relationship Id="rId2" Type="http://schemas.openxmlformats.org/officeDocument/2006/relationships/hyperlink" Target="https://github.com/Jemimahh/Jemima-Egwurube-AI-Portfolio/tree/master/Jemima-Egwurube-DeepLearning-ITAI2376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mimahh/Final_NutritionTrackerClassifica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gital Connections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/>
          <p:cNvGrpSpPr>
            <a:grpSpLocks noGrp="1" noUngrp="1" noRot="1" noChangeAspect="1" noMove="1" noResize="1"/>
          </p:cNvGrpSpPr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Bar1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Bar2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Bar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Overlay"/>
          <p:cNvSpPr>
            <a:spLocks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rgbClr val="0D1B3E">
              <a:alpha val="9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 txBox="1"/>
          <p:nvPr/>
        </p:nvSpPr>
        <p:spPr>
          <a:xfrm>
            <a:off x="581191" y="4520000"/>
            <a:ext cx="10993549" cy="8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92500" lnSpcReduction="20000"/>
          </a:bodyPr>
          <a:lstStyle/>
          <a:p>
            <a:pPr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JEMIMA EGWURUBE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91843" y="5409315"/>
            <a:ext cx="10993546" cy="6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7CEBFF"/>
                </a:solidFill>
              </a:rPr>
              <a:t>AI Engineer ·  Robotics Builder  ·</a:t>
            </a:r>
          </a:p>
          <a:p>
            <a:pPr algn="l">
              <a:buNone/>
            </a:pPr>
            <a:r>
              <a:rPr lang="en-US" sz="1300" dirty="0">
                <a:solidFill>
                  <a:srgbClr val="DDDDDD"/>
                </a:solidFill>
              </a:rPr>
              <a:t>Houston Community College  ·  A.A.S. Artificial Intelligence (in progress)</a:t>
            </a:r>
          </a:p>
          <a:p>
            <a:r>
              <a:rPr lang="en-US" sz="1300" dirty="0">
                <a:solidFill>
                  <a:srgbClr val="7CEBFF"/>
                </a:solidFill>
              </a:rPr>
              <a:t>https://github.com/</a:t>
            </a:r>
            <a:r>
              <a:rPr lang="en-US" sz="1300" dirty="0" err="1">
                <a:solidFill>
                  <a:srgbClr val="7CEBFF"/>
                </a:solidFill>
              </a:rPr>
              <a:t>Jemimahh</a:t>
            </a:r>
            <a:r>
              <a:rPr lang="en-US" sz="1300" dirty="0">
                <a:solidFill>
                  <a:srgbClr val="7CEBFF"/>
                </a:solidFill>
              </a:rPr>
              <a:t>/Jemima-Egwurube-AI-Portfolio/·  linkedin.com/in/jemima-egwurube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ttomBar"/>
          <p:cNvSpPr>
            <a:spLocks noTextEdi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 txBox="1"/>
          <p:nvPr/>
        </p:nvSpPr>
        <p:spPr>
          <a:xfrm>
            <a:off x="581192" y="5264487"/>
            <a:ext cx="11029616" cy="71887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LEARNING JOURNEY</a:t>
            </a:r>
          </a:p>
        </p:txBody>
      </p:sp>
      <p:sp>
        <p:nvSpPr>
          <p:cNvPr id="30" name="Intro"/>
          <p:cNvSpPr txBox="1"/>
          <p:nvPr/>
        </p:nvSpPr>
        <p:spPr>
          <a:xfrm>
            <a:off x="644000" y="820000"/>
            <a:ext cx="10906000" cy="3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333333"/>
                </a:solidFill>
              </a:rPr>
              <a:t>From cloud foundations to autonomous AI systems — a progression through applied coursework and real builds.</a:t>
            </a:r>
          </a:p>
        </p:txBody>
      </p:sp>
      <p:sp>
        <p:nvSpPr>
          <p:cNvPr id="31" name="TLine"/>
          <p:cNvSpPr>
            <a:spLocks noTextEdit="1"/>
          </p:cNvSpPr>
          <p:nvPr/>
        </p:nvSpPr>
        <p:spPr>
          <a:xfrm>
            <a:off x="1200000" y="2380000"/>
            <a:ext cx="9800000" cy="1000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Node0"/>
          <p:cNvSpPr>
            <a:spLocks noTextEdit="1"/>
          </p:cNvSpPr>
          <p:nvPr/>
        </p:nvSpPr>
        <p:spPr>
          <a:xfrm>
            <a:off x="1000000" y="2180000"/>
            <a:ext cx="400000" cy="400000"/>
          </a:xfrm>
          <a:prstGeom prst="ellipse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Badge0"/>
          <p:cNvSpPr>
            <a:spLocks noTextEdit="1"/>
          </p:cNvSpPr>
          <p:nvPr/>
        </p:nvSpPr>
        <p:spPr>
          <a:xfrm>
            <a:off x="750000" y="1380000"/>
            <a:ext cx="900000" cy="330000"/>
          </a:xfrm>
          <a:prstGeom prst="rect">
            <a:avLst/>
          </a:prstGeom>
          <a:solidFill>
            <a:srgbClr val="0D21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YearTxt0"/>
          <p:cNvSpPr txBox="1"/>
          <p:nvPr/>
        </p:nvSpPr>
        <p:spPr>
          <a:xfrm>
            <a:off x="750000" y="1380000"/>
            <a:ext cx="90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92500" lnSpcReduction="2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7CEBFF"/>
                </a:solidFill>
              </a:rPr>
              <a:t>2023</a:t>
            </a:r>
          </a:p>
        </p:txBody>
      </p:sp>
      <p:sp>
        <p:nvSpPr>
          <p:cNvPr id="43" name="NodeTitle0"/>
          <p:cNvSpPr txBox="1"/>
          <p:nvPr/>
        </p:nvSpPr>
        <p:spPr>
          <a:xfrm>
            <a:off x="-200000" y="2680000"/>
            <a:ext cx="28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A3A7C"/>
                </a:solidFill>
              </a:rPr>
              <a:t>Foundations</a:t>
            </a:r>
          </a:p>
        </p:txBody>
      </p:sp>
      <p:sp>
        <p:nvSpPr>
          <p:cNvPr id="44" name="NodeDesc0"/>
          <p:cNvSpPr txBox="1"/>
          <p:nvPr/>
        </p:nvSpPr>
        <p:spPr>
          <a:xfrm>
            <a:off x="-200000" y="3120000"/>
            <a:ext cx="2800000" cy="7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AWS CCP · Azure AZ-900</a:t>
            </a:r>
          </a:p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Backend Dev · Statistics</a:t>
            </a:r>
          </a:p>
        </p:txBody>
      </p:sp>
      <p:sp>
        <p:nvSpPr>
          <p:cNvPr id="46" name="Node1"/>
          <p:cNvSpPr>
            <a:spLocks noTextEdit="1"/>
          </p:cNvSpPr>
          <p:nvPr/>
        </p:nvSpPr>
        <p:spPr>
          <a:xfrm>
            <a:off x="4266666" y="2180000"/>
            <a:ext cx="400000" cy="400000"/>
          </a:xfrm>
          <a:prstGeom prst="ellipse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Badge1"/>
          <p:cNvSpPr>
            <a:spLocks noTextEdit="1"/>
          </p:cNvSpPr>
          <p:nvPr/>
        </p:nvSpPr>
        <p:spPr>
          <a:xfrm>
            <a:off x="4016666" y="1380000"/>
            <a:ext cx="900000" cy="330000"/>
          </a:xfrm>
          <a:prstGeom prst="rect">
            <a:avLst/>
          </a:prstGeom>
          <a:solidFill>
            <a:srgbClr val="0D21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YearTxt1"/>
          <p:cNvSpPr txBox="1"/>
          <p:nvPr/>
        </p:nvSpPr>
        <p:spPr>
          <a:xfrm>
            <a:off x="4016666" y="1380000"/>
            <a:ext cx="90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92500" lnSpcReduction="2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7CEBFF"/>
                </a:solidFill>
              </a:rPr>
              <a:t>2025</a:t>
            </a:r>
          </a:p>
        </p:txBody>
      </p:sp>
      <p:sp>
        <p:nvSpPr>
          <p:cNvPr id="49" name="NodeTitle1"/>
          <p:cNvSpPr txBox="1"/>
          <p:nvPr/>
        </p:nvSpPr>
        <p:spPr>
          <a:xfrm>
            <a:off x="3066666" y="2680000"/>
            <a:ext cx="28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A3A7C"/>
                </a:solidFill>
              </a:rPr>
              <a:t>AI/ML Core</a:t>
            </a:r>
          </a:p>
        </p:txBody>
      </p:sp>
      <p:sp>
        <p:nvSpPr>
          <p:cNvPr id="50" name="NodeDesc1"/>
          <p:cNvSpPr txBox="1"/>
          <p:nvPr/>
        </p:nvSpPr>
        <p:spPr>
          <a:xfrm>
            <a:off x="3066666" y="3120000"/>
            <a:ext cx="2800000" cy="7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Computer Vision · EfficientNet-B0</a:t>
            </a:r>
          </a:p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AI Security · RAG Pipelines</a:t>
            </a:r>
          </a:p>
        </p:txBody>
      </p:sp>
      <p:sp>
        <p:nvSpPr>
          <p:cNvPr id="52" name="Node2"/>
          <p:cNvSpPr>
            <a:spLocks noTextEdit="1"/>
          </p:cNvSpPr>
          <p:nvPr/>
        </p:nvSpPr>
        <p:spPr>
          <a:xfrm>
            <a:off x="7533333" y="2180000"/>
            <a:ext cx="400000" cy="400000"/>
          </a:xfrm>
          <a:prstGeom prst="ellipse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Badge2"/>
          <p:cNvSpPr>
            <a:spLocks noTextEdit="1"/>
          </p:cNvSpPr>
          <p:nvPr/>
        </p:nvSpPr>
        <p:spPr>
          <a:xfrm>
            <a:off x="7283333" y="1380000"/>
            <a:ext cx="900000" cy="330000"/>
          </a:xfrm>
          <a:prstGeom prst="rect">
            <a:avLst/>
          </a:prstGeom>
          <a:solidFill>
            <a:srgbClr val="0D21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YearTxt2"/>
          <p:cNvSpPr txBox="1"/>
          <p:nvPr/>
        </p:nvSpPr>
        <p:spPr>
          <a:xfrm>
            <a:off x="7283333" y="1380000"/>
            <a:ext cx="90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92500" lnSpcReduction="2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7CEBFF"/>
                </a:solidFill>
              </a:rPr>
              <a:t>Late 2026</a:t>
            </a:r>
          </a:p>
        </p:txBody>
      </p:sp>
      <p:sp>
        <p:nvSpPr>
          <p:cNvPr id="55" name="NodeTitle2"/>
          <p:cNvSpPr txBox="1"/>
          <p:nvPr/>
        </p:nvSpPr>
        <p:spPr>
          <a:xfrm>
            <a:off x="6333333" y="2680000"/>
            <a:ext cx="28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A3A7C"/>
                </a:solidFill>
              </a:rPr>
              <a:t>NLP Systems</a:t>
            </a:r>
          </a:p>
        </p:txBody>
      </p:sp>
      <p:sp>
        <p:nvSpPr>
          <p:cNvPr id="56" name="NodeDesc2"/>
          <p:cNvSpPr txBox="1"/>
          <p:nvPr/>
        </p:nvSpPr>
        <p:spPr>
          <a:xfrm>
            <a:off x="6333333" y="3120000"/>
            <a:ext cx="2800000" cy="7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NewsBot · TF-IDF · NER</a:t>
            </a:r>
          </a:p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Sentiment Analysis · spaCy</a:t>
            </a:r>
          </a:p>
        </p:txBody>
      </p:sp>
      <p:sp>
        <p:nvSpPr>
          <p:cNvPr id="58" name="Node3"/>
          <p:cNvSpPr>
            <a:spLocks noTextEdit="1"/>
          </p:cNvSpPr>
          <p:nvPr/>
        </p:nvSpPr>
        <p:spPr>
          <a:xfrm>
            <a:off x="10800000" y="2180000"/>
            <a:ext cx="400000" cy="400000"/>
          </a:xfrm>
          <a:prstGeom prst="ellipse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Badge3"/>
          <p:cNvSpPr>
            <a:spLocks noTextEdit="1"/>
          </p:cNvSpPr>
          <p:nvPr/>
        </p:nvSpPr>
        <p:spPr>
          <a:xfrm>
            <a:off x="10550000" y="1380000"/>
            <a:ext cx="900000" cy="330000"/>
          </a:xfrm>
          <a:prstGeom prst="rect">
            <a:avLst/>
          </a:prstGeom>
          <a:solidFill>
            <a:srgbClr val="0D21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YearTxt3"/>
          <p:cNvSpPr txBox="1"/>
          <p:nvPr/>
        </p:nvSpPr>
        <p:spPr>
          <a:xfrm>
            <a:off x="10550000" y="1380000"/>
            <a:ext cx="90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92500" lnSpcReduction="20000"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7CEBFF"/>
                </a:solidFill>
              </a:rPr>
              <a:t>2026</a:t>
            </a:r>
          </a:p>
        </p:txBody>
      </p:sp>
      <p:sp>
        <p:nvSpPr>
          <p:cNvPr id="61" name="NodeTitle3"/>
          <p:cNvSpPr txBox="1"/>
          <p:nvPr/>
        </p:nvSpPr>
        <p:spPr>
          <a:xfrm>
            <a:off x="9600000" y="2680000"/>
            <a:ext cx="28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1A3A7C"/>
                </a:solidFill>
              </a:rPr>
              <a:t>Autonomy</a:t>
            </a:r>
          </a:p>
        </p:txBody>
      </p:sp>
      <p:sp>
        <p:nvSpPr>
          <p:cNvPr id="62" name="NodeDesc3"/>
          <p:cNvSpPr txBox="1"/>
          <p:nvPr/>
        </p:nvSpPr>
        <p:spPr>
          <a:xfrm>
            <a:off x="9600000" y="3120000"/>
            <a:ext cx="2800000" cy="7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ROS 2 Robotics · RPLIDAR</a:t>
            </a:r>
          </a:p>
          <a:p>
            <a:pPr algn="ctr">
              <a:buNone/>
            </a:pPr>
            <a:r>
              <a:rPr lang="en-US" sz="1200" dirty="0">
                <a:solidFill>
                  <a:srgbClr val="444444"/>
                </a:solidFill>
              </a:rPr>
              <a:t>Robot Car</a:t>
            </a:r>
          </a:p>
        </p:txBody>
      </p:sp>
      <p:sp>
        <p:nvSpPr>
          <p:cNvPr id="90" name="Tag0"/>
          <p:cNvSpPr>
            <a:spLocks noTextEdit="1"/>
          </p:cNvSpPr>
          <p:nvPr/>
        </p:nvSpPr>
        <p:spPr>
          <a:xfrm>
            <a:off x="64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1" name="TagT0"/>
          <p:cNvSpPr txBox="1"/>
          <p:nvPr/>
        </p:nvSpPr>
        <p:spPr>
          <a:xfrm>
            <a:off x="64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Python</a:t>
            </a:r>
          </a:p>
        </p:txBody>
      </p:sp>
      <p:sp>
        <p:nvSpPr>
          <p:cNvPr id="91" name="Tag1"/>
          <p:cNvSpPr>
            <a:spLocks noTextEdit="1"/>
          </p:cNvSpPr>
          <p:nvPr/>
        </p:nvSpPr>
        <p:spPr>
          <a:xfrm>
            <a:off x="181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2" name="TagT1"/>
          <p:cNvSpPr txBox="1"/>
          <p:nvPr/>
        </p:nvSpPr>
        <p:spPr>
          <a:xfrm>
            <a:off x="181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PyTorch</a:t>
            </a:r>
          </a:p>
        </p:txBody>
      </p:sp>
      <p:sp>
        <p:nvSpPr>
          <p:cNvPr id="92" name="Tag2"/>
          <p:cNvSpPr>
            <a:spLocks noTextEdit="1"/>
          </p:cNvSpPr>
          <p:nvPr/>
        </p:nvSpPr>
        <p:spPr>
          <a:xfrm>
            <a:off x="298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3" name="TagT2"/>
          <p:cNvSpPr txBox="1"/>
          <p:nvPr/>
        </p:nvSpPr>
        <p:spPr>
          <a:xfrm>
            <a:off x="298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TensorFlow</a:t>
            </a:r>
          </a:p>
        </p:txBody>
      </p:sp>
      <p:sp>
        <p:nvSpPr>
          <p:cNvPr id="93" name="Tag3"/>
          <p:cNvSpPr>
            <a:spLocks noTextEdit="1"/>
          </p:cNvSpPr>
          <p:nvPr/>
        </p:nvSpPr>
        <p:spPr>
          <a:xfrm>
            <a:off x="415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4" name="TagT3"/>
          <p:cNvSpPr txBox="1"/>
          <p:nvPr/>
        </p:nvSpPr>
        <p:spPr>
          <a:xfrm>
            <a:off x="415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ROS 2</a:t>
            </a:r>
          </a:p>
        </p:txBody>
      </p:sp>
      <p:sp>
        <p:nvSpPr>
          <p:cNvPr id="94" name="Tag4"/>
          <p:cNvSpPr>
            <a:spLocks noTextEdit="1"/>
          </p:cNvSpPr>
          <p:nvPr/>
        </p:nvSpPr>
        <p:spPr>
          <a:xfrm>
            <a:off x="532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5" name="TagT4"/>
          <p:cNvSpPr txBox="1"/>
          <p:nvPr/>
        </p:nvSpPr>
        <p:spPr>
          <a:xfrm>
            <a:off x="532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LLaMA 3.2</a:t>
            </a:r>
          </a:p>
        </p:txBody>
      </p:sp>
      <p:sp>
        <p:nvSpPr>
          <p:cNvPr id="95" name="Tag5"/>
          <p:cNvSpPr>
            <a:spLocks noTextEdit="1"/>
          </p:cNvSpPr>
          <p:nvPr/>
        </p:nvSpPr>
        <p:spPr>
          <a:xfrm>
            <a:off x="649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TagT5"/>
          <p:cNvSpPr txBox="1"/>
          <p:nvPr/>
        </p:nvSpPr>
        <p:spPr>
          <a:xfrm>
            <a:off x="649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spaCy</a:t>
            </a:r>
          </a:p>
        </p:txBody>
      </p:sp>
      <p:sp>
        <p:nvSpPr>
          <p:cNvPr id="96" name="Tag6"/>
          <p:cNvSpPr>
            <a:spLocks noTextEdit="1"/>
          </p:cNvSpPr>
          <p:nvPr/>
        </p:nvSpPr>
        <p:spPr>
          <a:xfrm>
            <a:off x="766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7" name="TagT6"/>
          <p:cNvSpPr txBox="1"/>
          <p:nvPr/>
        </p:nvSpPr>
        <p:spPr>
          <a:xfrm>
            <a:off x="766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LangChain</a:t>
            </a:r>
          </a:p>
        </p:txBody>
      </p:sp>
      <p:sp>
        <p:nvSpPr>
          <p:cNvPr id="97" name="Tag7"/>
          <p:cNvSpPr>
            <a:spLocks noTextEdit="1"/>
          </p:cNvSpPr>
          <p:nvPr/>
        </p:nvSpPr>
        <p:spPr>
          <a:xfrm>
            <a:off x="883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8" name="TagT7"/>
          <p:cNvSpPr txBox="1"/>
          <p:nvPr/>
        </p:nvSpPr>
        <p:spPr>
          <a:xfrm>
            <a:off x="883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AWS</a:t>
            </a:r>
          </a:p>
        </p:txBody>
      </p:sp>
      <p:sp>
        <p:nvSpPr>
          <p:cNvPr id="98" name="Tag8"/>
          <p:cNvSpPr>
            <a:spLocks noTextEdit="1"/>
          </p:cNvSpPr>
          <p:nvPr/>
        </p:nvSpPr>
        <p:spPr>
          <a:xfrm>
            <a:off x="10004000" y="4500000"/>
            <a:ext cx="850000" cy="270000"/>
          </a:xfrm>
          <a:prstGeom prst="rect">
            <a:avLst/>
          </a:prstGeom>
          <a:solidFill>
            <a:srgbClr val="E8F0FE"/>
          </a:solidFill>
          <a:ln w="9525">
            <a:solidFill>
              <a:srgbClr val="1A3A7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9" name="TagT8"/>
          <p:cNvSpPr txBox="1"/>
          <p:nvPr/>
        </p:nvSpPr>
        <p:spPr>
          <a:xfrm>
            <a:off x="10004000" y="4500000"/>
            <a:ext cx="850000" cy="27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62500" lnSpcReduction="20000"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D2149"/>
                </a:solidFill>
              </a:rPr>
              <a:t>Azure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7CB4D-6CF0-4DE1-500E-96D1CE31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rkBg">
            <a:extLst>
              <a:ext uri="{FF2B5EF4-FFF2-40B4-BE49-F238E27FC236}">
                <a16:creationId xmlns:a16="http://schemas.microsoft.com/office/drawing/2014/main" id="{135FE730-161F-A70C-B515-BE1B74A5955E}"/>
              </a:ext>
            </a:extLst>
          </p:cNvPr>
          <p:cNvSpPr>
            <a:spLocks noTextEdit="1"/>
          </p:cNvSpPr>
          <p:nvPr/>
        </p:nvSpPr>
        <p:spPr>
          <a:xfrm>
            <a:off x="-2510" y="31000"/>
            <a:ext cx="12192000" cy="685800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B1">
            <a:extLst>
              <a:ext uri="{FF2B5EF4-FFF2-40B4-BE49-F238E27FC236}">
                <a16:creationId xmlns:a16="http://schemas.microsoft.com/office/drawing/2014/main" id="{C5885934-2DB9-7BF4-15D8-446C3620F601}"/>
              </a:ext>
            </a:extLst>
          </p:cNvPr>
          <p:cNvSpPr>
            <a:spLocks noTextEdit="1"/>
          </p:cNvSpPr>
          <p:nvPr/>
        </p:nvSpPr>
        <p:spPr>
          <a:xfrm>
            <a:off x="446534" y="457200"/>
            <a:ext cx="3703320" cy="800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2">
            <a:extLst>
              <a:ext uri="{FF2B5EF4-FFF2-40B4-BE49-F238E27FC236}">
                <a16:creationId xmlns:a16="http://schemas.microsoft.com/office/drawing/2014/main" id="{2899DF1D-07C7-57D7-9CC7-42183B182CD6}"/>
              </a:ext>
            </a:extLst>
          </p:cNvPr>
          <p:cNvSpPr>
            <a:spLocks noTextEdit="1"/>
          </p:cNvSpPr>
          <p:nvPr/>
        </p:nvSpPr>
        <p:spPr>
          <a:xfrm>
            <a:off x="4241830" y="457200"/>
            <a:ext cx="3703320" cy="80000"/>
          </a:xfrm>
          <a:prstGeom prst="rect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SlideTitle">
            <a:extLst>
              <a:ext uri="{FF2B5EF4-FFF2-40B4-BE49-F238E27FC236}">
                <a16:creationId xmlns:a16="http://schemas.microsoft.com/office/drawing/2014/main" id="{A4193B0D-2BF5-A94A-1776-6CCFEDF19034}"/>
              </a:ext>
            </a:extLst>
          </p:cNvPr>
          <p:cNvSpPr txBox="1"/>
          <p:nvPr/>
        </p:nvSpPr>
        <p:spPr>
          <a:xfrm>
            <a:off x="398000" y="3200000"/>
            <a:ext cx="11032000" cy="52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92500" lnSpcReduction="20000"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FEATURED PROJECTS</a:t>
            </a:r>
          </a:p>
        </p:txBody>
      </p:sp>
      <p:sp>
        <p:nvSpPr>
          <p:cNvPr id="15" name="TitleLine">
            <a:extLst>
              <a:ext uri="{FF2B5EF4-FFF2-40B4-BE49-F238E27FC236}">
                <a16:creationId xmlns:a16="http://schemas.microsoft.com/office/drawing/2014/main" id="{2B747F08-EFBD-9BB6-7BFC-7113D4B14E44}"/>
              </a:ext>
            </a:extLst>
          </p:cNvPr>
          <p:cNvSpPr>
            <a:spLocks noTextEdit="1"/>
          </p:cNvSpPr>
          <p:nvPr/>
        </p:nvSpPr>
        <p:spPr>
          <a:xfrm>
            <a:off x="4241830" y="3940929"/>
            <a:ext cx="3200000" cy="60000"/>
          </a:xfrm>
          <a:prstGeom prst="rect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PDesc2">
            <a:extLst>
              <a:ext uri="{FF2B5EF4-FFF2-40B4-BE49-F238E27FC236}">
                <a16:creationId xmlns:a16="http://schemas.microsoft.com/office/drawing/2014/main" id="{A6D7FEBC-D389-1132-CFF9-8BC8075977B4}"/>
              </a:ext>
            </a:extLst>
          </p:cNvPr>
          <p:cNvSpPr txBox="1"/>
          <p:nvPr/>
        </p:nvSpPr>
        <p:spPr>
          <a:xfrm>
            <a:off x="8070000" y="2260000"/>
            <a:ext cx="336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buNone/>
            </a:pPr>
            <a:endParaRPr lang="en-US" sz="1300" dirty="0">
              <a:solidFill>
                <a:srgbClr val="CCD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07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F213B7-FAC2-0673-B838-43678E6F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Deep Learning: </a:t>
            </a:r>
            <a:r>
              <a:rPr lang="en-US" b="1" dirty="0"/>
              <a:t>Administrative AI Agent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6871E74-D1F5-4C62-76F7-76E42F88B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3235345"/>
              </p:ext>
            </p:extLst>
          </p:nvPr>
        </p:nvGraphicFramePr>
        <p:xfrm>
          <a:off x="581025" y="2181225"/>
          <a:ext cx="1102995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181090975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454468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Detail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Value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95907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Architecture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Planning-then-Execution agent pattern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07934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Tools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Calculator, document summarizer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16414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Key techniques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Agent memory, tool integration, RL-style feedback &amp; policy improvement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51534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Safety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Input validation, boundaries, fallbacks, transparency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2979563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6F5AE82-2E85-5B12-9761-76F4276FAB78}"/>
              </a:ext>
            </a:extLst>
          </p:cNvPr>
          <p:cNvSpPr txBox="1"/>
          <p:nvPr/>
        </p:nvSpPr>
        <p:spPr>
          <a:xfrm>
            <a:off x="2634343" y="4754694"/>
            <a:ext cx="2024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6AA77-D89B-EADB-C5C8-566A6A21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79FCB31-775B-15D5-16B6-042C0E4B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001486"/>
            <a:ext cx="11029616" cy="80554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NLP :</a:t>
            </a:r>
            <a:r>
              <a:rPr lang="en-US" b="1" dirty="0" err="1"/>
              <a:t>NewsBot</a:t>
            </a:r>
            <a:r>
              <a:rPr lang="en-US" b="1" dirty="0"/>
              <a:t> Intelligence System 2.0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B10E8-F991-E451-58FB-6A455927648E}"/>
              </a:ext>
            </a:extLst>
          </p:cNvPr>
          <p:cNvSpPr txBox="1"/>
          <p:nvPr/>
        </p:nvSpPr>
        <p:spPr>
          <a:xfrm>
            <a:off x="2634343" y="4754694"/>
            <a:ext cx="2024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>
              <a:solidFill>
                <a:srgbClr val="00B0F0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31C0B3C-49F7-3D1E-E7BB-7112FC5F8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5041722"/>
              </p:ext>
            </p:extLst>
          </p:nvPr>
        </p:nvGraphicFramePr>
        <p:xfrm>
          <a:off x="581025" y="2687320"/>
          <a:ext cx="1102995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933585118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109288217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703199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Module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Capability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Key Techniques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96997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A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Advanced Content Analysis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LDA, NMF, K-Means clustering, pyLDAvis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123820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B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Language Understanding &amp; Generation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LLM summarization, Q&amp;A, insight generation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970266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Multilingual Intelligence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Language detection, translation, cross-lingual sentiment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643339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</a:t>
                      </a:r>
                      <a:endParaRPr lang="en-US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Conversational Interface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effectLst/>
                        </a:rPr>
                        <a:t>Intent classification, context management, corpus Q&amp;A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364774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Bonus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Flask Web Application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Full-stack app with trained classifier inference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9566519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D65DD69-8D6C-B549-A78C-C30C83CE55C0}"/>
              </a:ext>
            </a:extLst>
          </p:cNvPr>
          <p:cNvSpPr txBox="1"/>
          <p:nvPr/>
        </p:nvSpPr>
        <p:spPr>
          <a:xfrm>
            <a:off x="729343" y="1924009"/>
            <a:ext cx="9993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News analysis platform demonstrating advanced NLP techniques including topic modeling, language model integration, multilingual analysis, and conversational 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57B5C8-1CA2-8473-BAFE-3478B5EEC896}"/>
              </a:ext>
            </a:extLst>
          </p:cNvPr>
          <p:cNvSpPr txBox="1"/>
          <p:nvPr/>
        </p:nvSpPr>
        <p:spPr>
          <a:xfrm>
            <a:off x="968829" y="6368143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42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2851-AD69-471D-EF02-F708B15F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C69F9D-D059-234D-5F85-14C8320ED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306" y="934791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vision: </a:t>
            </a:r>
            <a:r>
              <a:rPr lang="en-US" b="1" dirty="0"/>
              <a:t>Food Classification — Nutrition Tracker CV System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28A2717-E6CE-617D-8384-BDE7F2E660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135797"/>
              </p:ext>
            </p:extLst>
          </p:nvPr>
        </p:nvGraphicFramePr>
        <p:xfrm>
          <a:off x="569972" y="3117397"/>
          <a:ext cx="1102995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181090975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454468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Detail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Value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95907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Model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EfficientNet-B0 (ImageNet → Food-101)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3079342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Dataset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torchvision Food-101 · 101 categories · 75,750 train / 25,250 val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4164144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Framework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PyTorch + torchvision</a:t>
                      </a: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51534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Key techniques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Two-phase fine-tuning, data augmentation, label smoothing, </a:t>
                      </a:r>
                      <a:r>
                        <a:rPr lang="en-US" dirty="0" err="1">
                          <a:effectLst/>
                        </a:rPr>
                        <a:t>CosineAnnealingLR</a:t>
                      </a:r>
                      <a:endParaRPr lang="en-US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12979563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0BC02F-6B54-1AB0-124F-C9D99551CDBD}"/>
              </a:ext>
            </a:extLst>
          </p:cNvPr>
          <p:cNvSpPr txBox="1"/>
          <p:nvPr/>
        </p:nvSpPr>
        <p:spPr>
          <a:xfrm>
            <a:off x="674915" y="5624962"/>
            <a:ext cx="2024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BA9B3-347A-5BB1-AC00-4AC30AD575A1}"/>
              </a:ext>
            </a:extLst>
          </p:cNvPr>
          <p:cNvSpPr txBox="1"/>
          <p:nvPr/>
        </p:nvSpPr>
        <p:spPr>
          <a:xfrm>
            <a:off x="468085" y="1986047"/>
            <a:ext cx="11029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Food classifier built with EfficientNet-B0, fine-tuned on Food-101 (101 classes, 75,750 training images). The system identifies a food item from a single image and returns the dish name plus estimated nutritional information (calories, protein, carbs, fat).</a:t>
            </a:r>
          </a:p>
        </p:txBody>
      </p:sp>
    </p:spTree>
    <p:extLst>
      <p:ext uri="{BB962C8B-B14F-4D97-AF65-F5344CB8AC3E}">
        <p14:creationId xmlns:p14="http://schemas.microsoft.com/office/powerpoint/2010/main" val="232994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White"/>
          <p:cNvSpPr>
            <a:spLocks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BottomBar"/>
          <p:cNvSpPr>
            <a:spLocks noTextEdit="1"/>
          </p:cNvSpPr>
          <p:nvPr/>
        </p:nvSpPr>
        <p:spPr>
          <a:xfrm>
            <a:off x="493140" y="5098586"/>
            <a:ext cx="11290860" cy="1258827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"/>
          <p:cNvSpPr txBox="1"/>
          <p:nvPr/>
        </p:nvSpPr>
        <p:spPr>
          <a:xfrm>
            <a:off x="581192" y="5264487"/>
            <a:ext cx="11029616" cy="71887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SKILLS &amp; COMPETENCIES</a:t>
            </a:r>
          </a:p>
        </p:txBody>
      </p:sp>
      <p:sp>
        <p:nvSpPr>
          <p:cNvPr id="13" name="SHeader"/>
          <p:cNvSpPr txBox="1"/>
          <p:nvPr/>
        </p:nvSpPr>
        <p:spPr>
          <a:xfrm>
            <a:off x="644000" y="525000"/>
            <a:ext cx="10906000" cy="36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2800" i="1" dirty="0">
                <a:solidFill>
                  <a:srgbClr val="555555"/>
                </a:solidFill>
              </a:rPr>
              <a:t>Technical proficiencies built through real project work across AI, NLP, robotics, and security.</a:t>
            </a:r>
          </a:p>
        </p:txBody>
      </p:sp>
      <p:sp>
        <p:nvSpPr>
          <p:cNvPr id="20" name="CHBg0"/>
          <p:cNvSpPr>
            <a:spLocks noTextEdit="1"/>
          </p:cNvSpPr>
          <p:nvPr/>
        </p:nvSpPr>
        <p:spPr>
          <a:xfrm>
            <a:off x="644000" y="1130000"/>
            <a:ext cx="3600000" cy="26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HTitle0"/>
          <p:cNvSpPr txBox="1"/>
          <p:nvPr/>
        </p:nvSpPr>
        <p:spPr>
          <a:xfrm>
            <a:off x="704000" y="1130000"/>
            <a:ext cx="3480000" cy="26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LANGUAGES</a:t>
            </a:r>
          </a:p>
        </p:txBody>
      </p:sp>
      <p:sp>
        <p:nvSpPr>
          <p:cNvPr id="22" name="SN0_0"/>
          <p:cNvSpPr txBox="1"/>
          <p:nvPr/>
        </p:nvSpPr>
        <p:spPr>
          <a:xfrm>
            <a:off x="704000" y="152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Python</a:t>
            </a:r>
          </a:p>
        </p:txBody>
      </p:sp>
      <p:sp>
        <p:nvSpPr>
          <p:cNvPr id="23" name="SBG0_0"/>
          <p:cNvSpPr>
            <a:spLocks noTextEdit="1"/>
          </p:cNvSpPr>
          <p:nvPr/>
        </p:nvSpPr>
        <p:spPr>
          <a:xfrm>
            <a:off x="704000" y="177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SFG0_0"/>
          <p:cNvSpPr>
            <a:spLocks noTextEdit="1"/>
          </p:cNvSpPr>
          <p:nvPr/>
        </p:nvSpPr>
        <p:spPr>
          <a:xfrm>
            <a:off x="704000" y="1770000"/>
            <a:ext cx="3306000" cy="1200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SN0_1"/>
          <p:cNvSpPr txBox="1"/>
          <p:nvPr/>
        </p:nvSpPr>
        <p:spPr>
          <a:xfrm>
            <a:off x="704000" y="214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C++</a:t>
            </a:r>
          </a:p>
        </p:txBody>
      </p:sp>
      <p:sp>
        <p:nvSpPr>
          <p:cNvPr id="28" name="SBG0_1"/>
          <p:cNvSpPr>
            <a:spLocks noTextEdit="1"/>
          </p:cNvSpPr>
          <p:nvPr/>
        </p:nvSpPr>
        <p:spPr>
          <a:xfrm>
            <a:off x="704000" y="239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FG0_1"/>
          <p:cNvSpPr>
            <a:spLocks noTextEdit="1"/>
          </p:cNvSpPr>
          <p:nvPr/>
        </p:nvSpPr>
        <p:spPr>
          <a:xfrm>
            <a:off x="704000" y="2390000"/>
            <a:ext cx="2436000" cy="1200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N0_2"/>
          <p:cNvSpPr txBox="1"/>
          <p:nvPr/>
        </p:nvSpPr>
        <p:spPr>
          <a:xfrm>
            <a:off x="704000" y="2730857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ROS 2</a:t>
            </a:r>
          </a:p>
        </p:txBody>
      </p:sp>
      <p:sp>
        <p:nvSpPr>
          <p:cNvPr id="33" name="SBG0_2"/>
          <p:cNvSpPr>
            <a:spLocks noTextEdit="1"/>
          </p:cNvSpPr>
          <p:nvPr/>
        </p:nvSpPr>
        <p:spPr>
          <a:xfrm>
            <a:off x="704000" y="301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FG0_2"/>
          <p:cNvSpPr>
            <a:spLocks noTextEdit="1"/>
          </p:cNvSpPr>
          <p:nvPr/>
        </p:nvSpPr>
        <p:spPr>
          <a:xfrm>
            <a:off x="704000" y="3010000"/>
            <a:ext cx="2784000" cy="1200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Pct0_2"/>
          <p:cNvSpPr txBox="1"/>
          <p:nvPr/>
        </p:nvSpPr>
        <p:spPr>
          <a:xfrm>
            <a:off x="4024000" y="2760000"/>
            <a:ext cx="2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buNone/>
            </a:pPr>
            <a:endParaRPr lang="en-US" sz="1000" b="1" dirty="0">
              <a:solidFill>
                <a:srgbClr val="1A3A7C"/>
              </a:solidFill>
            </a:endParaRPr>
          </a:p>
        </p:txBody>
      </p:sp>
      <p:sp>
        <p:nvSpPr>
          <p:cNvPr id="37" name="SN0_3"/>
          <p:cNvSpPr txBox="1"/>
          <p:nvPr/>
        </p:nvSpPr>
        <p:spPr>
          <a:xfrm>
            <a:off x="704000" y="338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AVR Assembly</a:t>
            </a:r>
          </a:p>
        </p:txBody>
      </p:sp>
      <p:sp>
        <p:nvSpPr>
          <p:cNvPr id="38" name="SBG0_3"/>
          <p:cNvSpPr>
            <a:spLocks noTextEdit="1"/>
          </p:cNvSpPr>
          <p:nvPr/>
        </p:nvSpPr>
        <p:spPr>
          <a:xfrm>
            <a:off x="704000" y="363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SFG0_3"/>
          <p:cNvSpPr>
            <a:spLocks noTextEdit="1"/>
          </p:cNvSpPr>
          <p:nvPr/>
        </p:nvSpPr>
        <p:spPr>
          <a:xfrm>
            <a:off x="704000" y="3630000"/>
            <a:ext cx="1914000" cy="1200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N0_4"/>
          <p:cNvSpPr txBox="1"/>
          <p:nvPr/>
        </p:nvSpPr>
        <p:spPr>
          <a:xfrm>
            <a:off x="704000" y="400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SQL / NoSQL</a:t>
            </a:r>
          </a:p>
        </p:txBody>
      </p:sp>
      <p:sp>
        <p:nvSpPr>
          <p:cNvPr id="43" name="SBG0_4"/>
          <p:cNvSpPr>
            <a:spLocks noTextEdit="1"/>
          </p:cNvSpPr>
          <p:nvPr/>
        </p:nvSpPr>
        <p:spPr>
          <a:xfrm>
            <a:off x="704000" y="425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SFG0_4"/>
          <p:cNvSpPr>
            <a:spLocks noTextEdit="1"/>
          </p:cNvSpPr>
          <p:nvPr/>
        </p:nvSpPr>
        <p:spPr>
          <a:xfrm>
            <a:off x="704000" y="4250000"/>
            <a:ext cx="2262000" cy="120000"/>
          </a:xfrm>
          <a:prstGeom prst="rect">
            <a:avLst/>
          </a:prstGeom>
          <a:solidFill>
            <a:srgbClr val="1A3A7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CHBg1"/>
          <p:cNvSpPr>
            <a:spLocks noTextEdit="1"/>
          </p:cNvSpPr>
          <p:nvPr/>
        </p:nvSpPr>
        <p:spPr>
          <a:xfrm>
            <a:off x="4444000" y="1130000"/>
            <a:ext cx="3600000" cy="26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CHTitle1"/>
          <p:cNvSpPr txBox="1"/>
          <p:nvPr/>
        </p:nvSpPr>
        <p:spPr>
          <a:xfrm>
            <a:off x="4504000" y="1130000"/>
            <a:ext cx="3480000" cy="26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/ ML STACK</a:t>
            </a:r>
          </a:p>
        </p:txBody>
      </p:sp>
      <p:sp>
        <p:nvSpPr>
          <p:cNvPr id="52" name="SN1_0"/>
          <p:cNvSpPr txBox="1"/>
          <p:nvPr/>
        </p:nvSpPr>
        <p:spPr>
          <a:xfrm>
            <a:off x="4504000" y="152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NLP (spaCy/NLTK)</a:t>
            </a:r>
          </a:p>
        </p:txBody>
      </p:sp>
      <p:sp>
        <p:nvSpPr>
          <p:cNvPr id="53" name="SBG1_0"/>
          <p:cNvSpPr>
            <a:spLocks noTextEdit="1"/>
          </p:cNvSpPr>
          <p:nvPr/>
        </p:nvSpPr>
        <p:spPr>
          <a:xfrm>
            <a:off x="4504000" y="177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SFG1_0"/>
          <p:cNvSpPr>
            <a:spLocks noTextEdit="1"/>
          </p:cNvSpPr>
          <p:nvPr/>
        </p:nvSpPr>
        <p:spPr>
          <a:xfrm>
            <a:off x="4504000" y="1770000"/>
            <a:ext cx="3132000" cy="120000"/>
          </a:xfrm>
          <a:prstGeom prst="rect">
            <a:avLst/>
          </a:prstGeom>
          <a:solidFill>
            <a:srgbClr val="1A6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SPct1_0"/>
          <p:cNvSpPr txBox="1"/>
          <p:nvPr/>
        </p:nvSpPr>
        <p:spPr>
          <a:xfrm>
            <a:off x="7824000" y="1520000"/>
            <a:ext cx="2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1A6090"/>
                </a:solidFill>
              </a:rPr>
              <a:t>90%</a:t>
            </a:r>
          </a:p>
        </p:txBody>
      </p:sp>
      <p:sp>
        <p:nvSpPr>
          <p:cNvPr id="57" name="SN1_1"/>
          <p:cNvSpPr txBox="1"/>
          <p:nvPr/>
        </p:nvSpPr>
        <p:spPr>
          <a:xfrm>
            <a:off x="4504000" y="214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Computer Vision</a:t>
            </a:r>
          </a:p>
        </p:txBody>
      </p:sp>
      <p:sp>
        <p:nvSpPr>
          <p:cNvPr id="58" name="SBG1_1"/>
          <p:cNvSpPr>
            <a:spLocks noTextEdit="1"/>
          </p:cNvSpPr>
          <p:nvPr/>
        </p:nvSpPr>
        <p:spPr>
          <a:xfrm>
            <a:off x="4504000" y="239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SFG1_1"/>
          <p:cNvSpPr>
            <a:spLocks noTextEdit="1"/>
          </p:cNvSpPr>
          <p:nvPr/>
        </p:nvSpPr>
        <p:spPr>
          <a:xfrm>
            <a:off x="4504000" y="2390000"/>
            <a:ext cx="2784000" cy="120000"/>
          </a:xfrm>
          <a:prstGeom prst="rect">
            <a:avLst/>
          </a:prstGeom>
          <a:solidFill>
            <a:srgbClr val="1A6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SPct1_1"/>
          <p:cNvSpPr txBox="1"/>
          <p:nvPr/>
        </p:nvSpPr>
        <p:spPr>
          <a:xfrm>
            <a:off x="7824000" y="2140000"/>
            <a:ext cx="2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1A6090"/>
                </a:solidFill>
              </a:rPr>
              <a:t>80%</a:t>
            </a:r>
          </a:p>
        </p:txBody>
      </p:sp>
      <p:sp>
        <p:nvSpPr>
          <p:cNvPr id="62" name="SN1_2"/>
          <p:cNvSpPr txBox="1"/>
          <p:nvPr/>
        </p:nvSpPr>
        <p:spPr>
          <a:xfrm>
            <a:off x="4504000" y="276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RAG Pipelines</a:t>
            </a:r>
          </a:p>
        </p:txBody>
      </p:sp>
      <p:sp>
        <p:nvSpPr>
          <p:cNvPr id="63" name="SBG1_2"/>
          <p:cNvSpPr>
            <a:spLocks noTextEdit="1"/>
          </p:cNvSpPr>
          <p:nvPr/>
        </p:nvSpPr>
        <p:spPr>
          <a:xfrm>
            <a:off x="4504000" y="301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SFG1_2"/>
          <p:cNvSpPr>
            <a:spLocks noTextEdit="1"/>
          </p:cNvSpPr>
          <p:nvPr/>
        </p:nvSpPr>
        <p:spPr>
          <a:xfrm>
            <a:off x="4504000" y="3010000"/>
            <a:ext cx="3062400" cy="120000"/>
          </a:xfrm>
          <a:prstGeom prst="rect">
            <a:avLst/>
          </a:prstGeom>
          <a:solidFill>
            <a:srgbClr val="1A6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SPct1_2"/>
          <p:cNvSpPr txBox="1"/>
          <p:nvPr/>
        </p:nvSpPr>
        <p:spPr>
          <a:xfrm>
            <a:off x="7824000" y="2760000"/>
            <a:ext cx="2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1A6090"/>
                </a:solidFill>
              </a:rPr>
              <a:t>88%</a:t>
            </a:r>
          </a:p>
        </p:txBody>
      </p:sp>
      <p:sp>
        <p:nvSpPr>
          <p:cNvPr id="67" name="SN1_3"/>
          <p:cNvSpPr txBox="1"/>
          <p:nvPr/>
        </p:nvSpPr>
        <p:spPr>
          <a:xfrm>
            <a:off x="4504000" y="338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LLM Integration</a:t>
            </a:r>
          </a:p>
        </p:txBody>
      </p:sp>
      <p:sp>
        <p:nvSpPr>
          <p:cNvPr id="68" name="SBG1_3"/>
          <p:cNvSpPr>
            <a:spLocks noTextEdit="1"/>
          </p:cNvSpPr>
          <p:nvPr/>
        </p:nvSpPr>
        <p:spPr>
          <a:xfrm>
            <a:off x="4504000" y="363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SFG1_3"/>
          <p:cNvSpPr>
            <a:spLocks noTextEdit="1"/>
          </p:cNvSpPr>
          <p:nvPr/>
        </p:nvSpPr>
        <p:spPr>
          <a:xfrm>
            <a:off x="4504000" y="3630000"/>
            <a:ext cx="2784000" cy="120000"/>
          </a:xfrm>
          <a:prstGeom prst="rect">
            <a:avLst/>
          </a:prstGeom>
          <a:solidFill>
            <a:srgbClr val="1A6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SPct1_3"/>
          <p:cNvSpPr txBox="1"/>
          <p:nvPr/>
        </p:nvSpPr>
        <p:spPr>
          <a:xfrm>
            <a:off x="7824000" y="3380000"/>
            <a:ext cx="2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1A6090"/>
                </a:solidFill>
              </a:rPr>
              <a:t>80%</a:t>
            </a:r>
          </a:p>
        </p:txBody>
      </p:sp>
      <p:sp>
        <p:nvSpPr>
          <p:cNvPr id="72" name="SN1_4"/>
          <p:cNvSpPr txBox="1"/>
          <p:nvPr/>
        </p:nvSpPr>
        <p:spPr>
          <a:xfrm>
            <a:off x="4504000" y="4000000"/>
            <a:ext cx="34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1A1A1A"/>
                </a:solidFill>
              </a:rPr>
              <a:t>Cloud (AWS/Azure)</a:t>
            </a:r>
          </a:p>
        </p:txBody>
      </p:sp>
      <p:sp>
        <p:nvSpPr>
          <p:cNvPr id="73" name="SBG1_4"/>
          <p:cNvSpPr>
            <a:spLocks noTextEdit="1"/>
          </p:cNvSpPr>
          <p:nvPr/>
        </p:nvSpPr>
        <p:spPr>
          <a:xfrm>
            <a:off x="4504000" y="4250000"/>
            <a:ext cx="3480000" cy="120000"/>
          </a:xfrm>
          <a:prstGeom prst="rect">
            <a:avLst/>
          </a:prstGeom>
          <a:solidFill>
            <a:srgbClr val="D0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SFG1_4"/>
          <p:cNvSpPr>
            <a:spLocks noTextEdit="1"/>
          </p:cNvSpPr>
          <p:nvPr/>
        </p:nvSpPr>
        <p:spPr>
          <a:xfrm>
            <a:off x="4504000" y="4250000"/>
            <a:ext cx="2505600" cy="120000"/>
          </a:xfrm>
          <a:prstGeom prst="rect">
            <a:avLst/>
          </a:prstGeom>
          <a:solidFill>
            <a:srgbClr val="1A6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SPct1_4"/>
          <p:cNvSpPr txBox="1"/>
          <p:nvPr/>
        </p:nvSpPr>
        <p:spPr>
          <a:xfrm>
            <a:off x="7824000" y="4000000"/>
            <a:ext cx="280000" cy="24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buNone/>
            </a:pPr>
            <a:r>
              <a:rPr lang="en-US" sz="1000" b="1" dirty="0">
                <a:solidFill>
                  <a:srgbClr val="1A6090"/>
                </a:solidFill>
              </a:rPr>
              <a:t>72%</a:t>
            </a:r>
          </a:p>
        </p:txBody>
      </p:sp>
      <p:sp>
        <p:nvSpPr>
          <p:cNvPr id="80" name="CHBg2"/>
          <p:cNvSpPr>
            <a:spLocks noTextEdit="1"/>
          </p:cNvSpPr>
          <p:nvPr/>
        </p:nvSpPr>
        <p:spPr>
          <a:xfrm>
            <a:off x="8244000" y="1130000"/>
            <a:ext cx="3600000" cy="26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CHTitle2"/>
          <p:cNvSpPr txBox="1"/>
          <p:nvPr/>
        </p:nvSpPr>
        <p:spPr>
          <a:xfrm>
            <a:off x="8304000" y="1130000"/>
            <a:ext cx="3480000" cy="26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COMPETENCIES</a:t>
            </a:r>
          </a:p>
        </p:txBody>
      </p:sp>
      <p:sp>
        <p:nvSpPr>
          <p:cNvPr id="82" name="Chip0"/>
          <p:cNvSpPr>
            <a:spLocks noTextEdit="1"/>
          </p:cNvSpPr>
          <p:nvPr/>
        </p:nvSpPr>
        <p:spPr>
          <a:xfrm>
            <a:off x="8304000" y="1520000"/>
            <a:ext cx="3480000" cy="330000"/>
          </a:xfrm>
          <a:prstGeom prst="rect">
            <a:avLst/>
          </a:prstGeom>
          <a:solidFill>
            <a:srgbClr val="E8F4ED"/>
          </a:solidFill>
          <a:ln w="9525">
            <a:solidFill>
              <a:srgbClr val="0D5C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ChipT0"/>
          <p:cNvSpPr txBox="1"/>
          <p:nvPr/>
        </p:nvSpPr>
        <p:spPr>
          <a:xfrm>
            <a:off x="8304000" y="1520000"/>
            <a:ext cx="348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D3322"/>
                </a:solidFill>
              </a:rPr>
              <a:t>✓  Systems Thinking</a:t>
            </a:r>
          </a:p>
        </p:txBody>
      </p:sp>
      <p:sp>
        <p:nvSpPr>
          <p:cNvPr id="85" name="Chip1"/>
          <p:cNvSpPr>
            <a:spLocks noTextEdit="1"/>
          </p:cNvSpPr>
          <p:nvPr/>
        </p:nvSpPr>
        <p:spPr>
          <a:xfrm>
            <a:off x="8304000" y="2050000"/>
            <a:ext cx="3480000" cy="330000"/>
          </a:xfrm>
          <a:prstGeom prst="rect">
            <a:avLst/>
          </a:prstGeom>
          <a:solidFill>
            <a:srgbClr val="E8F4ED"/>
          </a:solidFill>
          <a:ln w="9525">
            <a:solidFill>
              <a:srgbClr val="0D5C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ChipT1"/>
          <p:cNvSpPr txBox="1"/>
          <p:nvPr/>
        </p:nvSpPr>
        <p:spPr>
          <a:xfrm>
            <a:off x="8304000" y="2050000"/>
            <a:ext cx="348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D3322"/>
                </a:solidFill>
              </a:rPr>
              <a:t>✓  Research Synthesis</a:t>
            </a:r>
          </a:p>
        </p:txBody>
      </p:sp>
      <p:sp>
        <p:nvSpPr>
          <p:cNvPr id="88" name="Chip2"/>
          <p:cNvSpPr>
            <a:spLocks noTextEdit="1"/>
          </p:cNvSpPr>
          <p:nvPr/>
        </p:nvSpPr>
        <p:spPr>
          <a:xfrm>
            <a:off x="8304000" y="2580000"/>
            <a:ext cx="3480000" cy="330000"/>
          </a:xfrm>
          <a:prstGeom prst="rect">
            <a:avLst/>
          </a:prstGeom>
          <a:solidFill>
            <a:srgbClr val="E8F4ED"/>
          </a:solidFill>
          <a:ln w="9525">
            <a:solidFill>
              <a:srgbClr val="0D5C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ChipT2"/>
          <p:cNvSpPr txBox="1"/>
          <p:nvPr/>
        </p:nvSpPr>
        <p:spPr>
          <a:xfrm>
            <a:off x="8304000" y="2580000"/>
            <a:ext cx="348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D3322"/>
                </a:solidFill>
              </a:rPr>
              <a:t>✓  Technical Writing</a:t>
            </a:r>
          </a:p>
        </p:txBody>
      </p:sp>
      <p:sp>
        <p:nvSpPr>
          <p:cNvPr id="91" name="Chip3"/>
          <p:cNvSpPr>
            <a:spLocks noTextEdit="1"/>
          </p:cNvSpPr>
          <p:nvPr/>
        </p:nvSpPr>
        <p:spPr>
          <a:xfrm>
            <a:off x="8304000" y="3110000"/>
            <a:ext cx="3480000" cy="330000"/>
          </a:xfrm>
          <a:prstGeom prst="rect">
            <a:avLst/>
          </a:prstGeom>
          <a:solidFill>
            <a:srgbClr val="E8F4ED"/>
          </a:solidFill>
          <a:ln w="9525">
            <a:solidFill>
              <a:srgbClr val="0D5C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ChipT3"/>
          <p:cNvSpPr txBox="1"/>
          <p:nvPr/>
        </p:nvSpPr>
        <p:spPr>
          <a:xfrm>
            <a:off x="8304000" y="3110000"/>
            <a:ext cx="348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85000" lnSpcReduction="20000"/>
          </a:bodyPr>
          <a:lstStyle/>
          <a:p>
            <a:pPr algn="l">
              <a:buNone/>
            </a:pPr>
            <a:r>
              <a:rPr lang="en-US" sz="1400" dirty="0">
                <a:solidFill>
                  <a:srgbClr val="0D3322"/>
                </a:solidFill>
              </a:rPr>
              <a:t>✓  Cross-domain Analysis</a:t>
            </a:r>
          </a:p>
        </p:txBody>
      </p:sp>
      <p:sp>
        <p:nvSpPr>
          <p:cNvPr id="94" name="Chip4"/>
          <p:cNvSpPr>
            <a:spLocks noTextEdit="1"/>
          </p:cNvSpPr>
          <p:nvPr/>
        </p:nvSpPr>
        <p:spPr>
          <a:xfrm>
            <a:off x="8304000" y="3640000"/>
            <a:ext cx="3480000" cy="330000"/>
          </a:xfrm>
          <a:prstGeom prst="rect">
            <a:avLst/>
          </a:prstGeom>
          <a:solidFill>
            <a:srgbClr val="E8F4ED"/>
          </a:solidFill>
          <a:ln w="9525">
            <a:solidFill>
              <a:srgbClr val="0D5C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ChipT4"/>
          <p:cNvSpPr txBox="1"/>
          <p:nvPr/>
        </p:nvSpPr>
        <p:spPr>
          <a:xfrm>
            <a:off x="8304000" y="3640000"/>
            <a:ext cx="348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D3322"/>
                </a:solidFill>
              </a:rPr>
              <a:t>✓  Rapid Prototyping</a:t>
            </a:r>
          </a:p>
        </p:txBody>
      </p:sp>
      <p:sp>
        <p:nvSpPr>
          <p:cNvPr id="97" name="Chip5"/>
          <p:cNvSpPr>
            <a:spLocks noTextEdit="1"/>
          </p:cNvSpPr>
          <p:nvPr/>
        </p:nvSpPr>
        <p:spPr>
          <a:xfrm>
            <a:off x="8304000" y="4170000"/>
            <a:ext cx="3480000" cy="330000"/>
          </a:xfrm>
          <a:prstGeom prst="rect">
            <a:avLst/>
          </a:prstGeom>
          <a:solidFill>
            <a:srgbClr val="E8F4ED"/>
          </a:solidFill>
          <a:ln w="9525">
            <a:solidFill>
              <a:srgbClr val="0D5C3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ChipT5"/>
          <p:cNvSpPr txBox="1"/>
          <p:nvPr/>
        </p:nvSpPr>
        <p:spPr>
          <a:xfrm>
            <a:off x="8304000" y="4170000"/>
            <a:ext cx="3480000" cy="33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 fontScale="85000" lnSpcReduction="20000"/>
          </a:bodyPr>
          <a:lstStyle/>
          <a:p>
            <a:pPr algn="l">
              <a:buNone/>
            </a:pPr>
            <a:r>
              <a:rPr lang="en-US" sz="1400" dirty="0">
                <a:solidFill>
                  <a:srgbClr val="0D3322"/>
                </a:solidFill>
              </a:rPr>
              <a:t>✓  Security-first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Numbers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0" y="0"/>
            <a:ext cx="7200000" cy="6858000"/>
          </a:xfrm>
          <a:prstGeom prst="rect">
            <a:avLst/>
          </a:prstGeom>
        </p:spPr>
      </p:pic>
      <p:sp>
        <p:nvSpPr>
          <p:cNvPr id="10" name="RightPanel"/>
          <p:cNvSpPr>
            <a:spLocks noTextEdit="1"/>
          </p:cNvSpPr>
          <p:nvPr/>
        </p:nvSpPr>
        <p:spPr>
          <a:xfrm>
            <a:off x="7200000" y="0"/>
            <a:ext cx="4992000" cy="685800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opAccent"/>
          <p:cNvSpPr>
            <a:spLocks noTextEdit="1"/>
          </p:cNvSpPr>
          <p:nvPr/>
        </p:nvSpPr>
        <p:spPr>
          <a:xfrm>
            <a:off x="7200000" y="0"/>
            <a:ext cx="4992000" cy="120000"/>
          </a:xfrm>
          <a:prstGeom prst="rect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LBar1"/>
          <p:cNvSpPr>
            <a:spLocks noTextEdit="1"/>
          </p:cNvSpPr>
          <p:nvPr/>
        </p:nvSpPr>
        <p:spPr>
          <a:xfrm>
            <a:off x="446534" y="457200"/>
            <a:ext cx="2000000" cy="80000"/>
          </a:xfrm>
          <a:prstGeom prst="rect">
            <a:avLst/>
          </a:prstGeom>
          <a:solidFill>
            <a:srgbClr val="1A3A7C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LBar2"/>
          <p:cNvSpPr>
            <a:spLocks noTextEdit="1"/>
          </p:cNvSpPr>
          <p:nvPr/>
        </p:nvSpPr>
        <p:spPr>
          <a:xfrm>
            <a:off x="2546534" y="457200"/>
            <a:ext cx="2000000" cy="80000"/>
          </a:xfrm>
          <a:prstGeom prst="rect">
            <a:avLst/>
          </a:prstGeom>
          <a:solidFill>
            <a:srgbClr val="7CEBF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LBar3"/>
          <p:cNvSpPr>
            <a:spLocks noTextEdit="1"/>
          </p:cNvSpPr>
          <p:nvPr/>
        </p:nvSpPr>
        <p:spPr>
          <a:xfrm>
            <a:off x="4646534" y="457200"/>
            <a:ext cx="2000000" cy="80000"/>
          </a:xfrm>
          <a:prstGeom prst="rect">
            <a:avLst/>
          </a:prstGeom>
          <a:solidFill>
            <a:srgbClr val="334477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itle"/>
          <p:cNvSpPr txBox="1"/>
          <p:nvPr/>
        </p:nvSpPr>
        <p:spPr>
          <a:xfrm>
            <a:off x="7380000" y="700000"/>
            <a:ext cx="4640000" cy="9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 fontScale="85000" lnSpcReduction="20000"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REFLECTION</a:t>
            </a:r>
          </a:p>
          <a:p>
            <a:pPr algn="l">
              <a:buNone/>
            </a:pPr>
            <a:r>
              <a:rPr lang="en-US" sz="3200" b="1" dirty="0">
                <a:solidFill>
                  <a:srgbClr val="7CEBFF"/>
                </a:solidFill>
              </a:rPr>
              <a:t>&amp; NEXT STEPS</a:t>
            </a:r>
          </a:p>
        </p:txBody>
      </p:sp>
      <p:sp>
        <p:nvSpPr>
          <p:cNvPr id="21" name="Divider"/>
          <p:cNvSpPr>
            <a:spLocks noTextEdit="1"/>
          </p:cNvSpPr>
          <p:nvPr/>
        </p:nvSpPr>
        <p:spPr>
          <a:xfrm>
            <a:off x="7380000" y="1720000"/>
            <a:ext cx="1800000" cy="60000"/>
          </a:xfrm>
          <a:prstGeom prst="rect">
            <a:avLst/>
          </a:prstGeom>
          <a:solidFill>
            <a:srgbClr val="7CEB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flection"/>
          <p:cNvSpPr txBox="1"/>
          <p:nvPr/>
        </p:nvSpPr>
        <p:spPr>
          <a:xfrm>
            <a:off x="7380000" y="1850000"/>
            <a:ext cx="4640000" cy="11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7CEBFF"/>
                </a:solidFill>
              </a:rPr>
              <a:t>REFLECTION</a:t>
            </a:r>
          </a:p>
          <a:p>
            <a:pPr algn="l">
              <a:buNone/>
            </a:pPr>
            <a:r>
              <a:rPr lang="en-US" sz="1250" dirty="0">
                <a:solidFill>
                  <a:srgbClr val="CCDDFF"/>
                </a:solidFill>
              </a:rPr>
              <a:t>Building these systems taught me that good AI isn’t just accurate — it’s secure, explainable, and engineered for real conditions, not just controlled datasets.</a:t>
            </a:r>
          </a:p>
        </p:txBody>
      </p:sp>
      <p:sp>
        <p:nvSpPr>
          <p:cNvPr id="23" name="Goals"/>
          <p:cNvSpPr txBox="1"/>
          <p:nvPr/>
        </p:nvSpPr>
        <p:spPr>
          <a:xfrm>
            <a:off x="7380000" y="3080000"/>
            <a:ext cx="4640000" cy="16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7CEBFF"/>
                </a:solidFill>
              </a:rPr>
              <a:t>NEXT STEPS</a:t>
            </a:r>
          </a:p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▶  Production RAG deployment with monitoring and adversarial testing</a:t>
            </a:r>
          </a:p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▶  SLAM-based autonomous navigation on my ROS 2 LIDAR robot</a:t>
            </a:r>
          </a:p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▶  Multilingual NLP research with focus on African language corpora</a:t>
            </a:r>
          </a:p>
          <a:p>
            <a:pPr algn="l">
              <a:buNone/>
            </a:pPr>
            <a:r>
              <a:rPr lang="en-US" sz="1200" dirty="0">
                <a:solidFill>
                  <a:srgbClr val="FFFFFF"/>
                </a:solidFill>
              </a:rPr>
              <a:t>▶  Contributing to open-source robotics and AI security tooling</a:t>
            </a:r>
          </a:p>
        </p:txBody>
      </p:sp>
      <p:sp>
        <p:nvSpPr>
          <p:cNvPr id="24" name="ContactBg"/>
          <p:cNvSpPr>
            <a:spLocks noTextEdit="1"/>
          </p:cNvSpPr>
          <p:nvPr/>
        </p:nvSpPr>
        <p:spPr>
          <a:xfrm>
            <a:off x="7200000" y="5600000"/>
            <a:ext cx="4992000" cy="1258000"/>
          </a:xfrm>
          <a:prstGeom prst="rect">
            <a:avLst/>
          </a:prstGeom>
          <a:solidFill>
            <a:srgbClr val="0D21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ontact"/>
          <p:cNvSpPr txBox="1"/>
          <p:nvPr/>
        </p:nvSpPr>
        <p:spPr>
          <a:xfrm>
            <a:off x="7380000" y="5680000"/>
            <a:ext cx="4640000" cy="10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7CEBFF"/>
                </a:solidFill>
              </a:rPr>
              <a:t>jemima.egwurube@email.com</a:t>
            </a:r>
          </a:p>
          <a:p>
            <a:pPr algn="l">
              <a:buNone/>
            </a:pPr>
            <a:r>
              <a:rPr lang="en-US" sz="1200" dirty="0">
                <a:solidFill>
                  <a:srgbClr val="AABBDD"/>
                </a:solidFill>
              </a:rPr>
              <a:t>linkedin.com/in/jemima-egwurube  ·  github.com/</a:t>
            </a:r>
            <a:r>
              <a:rPr lang="en-US" sz="1200" dirty="0" err="1">
                <a:solidFill>
                  <a:srgbClr val="AABBDD"/>
                </a:solidFill>
              </a:rPr>
              <a:t>jemimahh</a:t>
            </a:r>
            <a:endParaRPr lang="en-US" sz="1200" dirty="0">
              <a:solidFill>
                <a:srgbClr val="AABBDD"/>
              </a:solidFill>
            </a:endParaRPr>
          </a:p>
          <a:p>
            <a:pPr algn="l">
              <a:buNone/>
            </a:pPr>
            <a:r>
              <a:rPr lang="en-US" sz="1200" dirty="0">
                <a:solidFill>
                  <a:srgbClr val="AABBDD"/>
                </a:solidFill>
              </a:rPr>
              <a:t>Houston, TX  ·  Open to full-time AI/ML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127</TotalTime>
  <Words>543</Words>
  <Application>Microsoft Office PowerPoint</Application>
  <PresentationFormat>Widescreen</PresentationFormat>
  <Paragraphs>121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Gill Sans MT</vt:lpstr>
      <vt:lpstr>Wingdings 2</vt:lpstr>
      <vt:lpstr>Custom</vt:lpstr>
      <vt:lpstr>PowerPoint Presentation</vt:lpstr>
      <vt:lpstr>PowerPoint Presentation</vt:lpstr>
      <vt:lpstr>PowerPoint Presentation</vt:lpstr>
      <vt:lpstr>Deep Learning: Administrative AI Agent </vt:lpstr>
      <vt:lpstr>  NLP :NewsBot Intelligence System 2.0  </vt:lpstr>
      <vt:lpstr>Computer vision: Food Classification — Nutrition Tracker CV System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jemima.egwurube-W212809892</dc:creator>
  <cp:lastModifiedBy>jemima.egwurube-W212809892</cp:lastModifiedBy>
  <cp:revision>5</cp:revision>
  <dcterms:created xsi:type="dcterms:W3CDTF">2026-05-04T02:19:22Z</dcterms:created>
  <dcterms:modified xsi:type="dcterms:W3CDTF">2026-05-05T21:52:26Z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